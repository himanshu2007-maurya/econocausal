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naming the source: the main branch of snigdhasudheer/Infotact_project1, reviewed today (commit b01a204). Say up front that every number in this deck was counted from the repository, because the repository's own roadmap and requirements checklist are out of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questions. Set the expectation that the last two are the useful ones: what is missing, and what closes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 framing: this is a causal-inference study delivered as documentation plus a dashboard. Note the two workstreams - Section A owns the definitions, Section B owns the methodology and delivery - because that split explains why the causal track is idle.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Hard evidence only. 41 commits, 18 merged PRs, none open, 16 unit tests, 5 API routes. Then the re-score: 2 of 12 requirements complete and 4 partial, which is 33 percent. The committed checklist still says 0/12 and 'backend pending' - main has overtaken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milestones, each traceable to a PR range. Keep this brief; it is the 'credit where due'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Online Retail: 541,909 rows down to 524,878 after cleaning, with the four quality counts on screen. Hillstrom: 64,000 rows, zero missing, but 6,562 duplicate profiles flagged and not investigated. Neither dataset can be joined to the other, so the merger was rejected deliberately.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four routes left to right, then flag that the frontend is a real pipeline: upload, validate, export, report. The Plotly EDA component exists but is rendered without data, and Recommendations and Budget are still placeholders.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 tests is real coverage of the data utilities - column checks, empty files, bad months, negative values, duplicates, exit codes. The gaps are structural: no API tests, no frontend tests, no CI, and requirements.txt has none of the causal libraries.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pivotal slide. Three reasons the headline result is missing: no randomised price in Online Retail, Hillstrom randomises e-mail not price, and Section A has not signed off treatment, outcome, or covariates. The dashboard showing 'Not yet estimated' is correct behaviour, not a defect.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re-scored checklist, requirement by requirement. Land the bottom line: the four requirements that give the project its name - DAG, DML, refutation, optimisation - are all untouched.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Causal track: five tasks in strict order, with effort and the gate for each. C1 is the blocker and it belongs to Section A. C3 and C4 are where this becomes a causal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Platform track: six fixes, none blocked, start today. P1 and P3 are the two that most affect what a reviewer sees, because wiring the CSV and removing the duplicate section id are small but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phases with gates. The point of the sequence is that nobody builds an optimiser on top of an unvalidated estimate. If Section A slips, run Phase 0 and Phase 2 in parallel and keep the causal slides empty.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risks, each with a mitigation someone owns. The second is the technical one: without valid price variation, any DML elasticity is a confounded artefact.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decision, not a summary. Ask the reviewer: Hillstrom e-mail uplift that the data can actually identify, or wait for a pricing design we do not have? The answer decides whether the next milestone ships a number or a caveat.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67728" y="1078992"/>
            <a:ext cx="10972" cy="4224528"/>
          </a:xfrm>
          <a:prstGeom prst="rect">
            <a:avLst/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16368" y="1078992"/>
            <a:ext cx="10972" cy="4224528"/>
          </a:xfrm>
          <a:prstGeom prst="rect">
            <a:avLst/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65008" y="1078992"/>
            <a:ext cx="10972" cy="4224528"/>
          </a:xfrm>
          <a:prstGeom prst="rect">
            <a:avLst/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13648" y="1078992"/>
            <a:ext cx="10972" cy="4224528"/>
          </a:xfrm>
          <a:prstGeom prst="rect">
            <a:avLst/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62288" y="1078992"/>
            <a:ext cx="10972" cy="4224528"/>
          </a:xfrm>
          <a:prstGeom prst="rect">
            <a:avLst/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710928" y="1078992"/>
            <a:ext cx="10972" cy="4224528"/>
          </a:xfrm>
          <a:prstGeom prst="rect">
            <a:avLst/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259567" y="1078992"/>
            <a:ext cx="10972" cy="4224528"/>
          </a:xfrm>
          <a:prstGeom prst="rect">
            <a:avLst/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808208" y="1078992"/>
            <a:ext cx="10972" cy="4224528"/>
          </a:xfrm>
          <a:prstGeom prst="rect">
            <a:avLst/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67728" y="1078992"/>
            <a:ext cx="3950208" cy="10972"/>
          </a:xfrm>
          <a:prstGeom prst="rect">
            <a:avLst/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67728" y="1609343"/>
            <a:ext cx="3950208" cy="10972"/>
          </a:xfrm>
          <a:prstGeom prst="rect">
            <a:avLst/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67728" y="2139696"/>
            <a:ext cx="3950208" cy="10972"/>
          </a:xfrm>
          <a:prstGeom prst="rect">
            <a:avLst/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67728" y="2670048"/>
            <a:ext cx="3950208" cy="10972"/>
          </a:xfrm>
          <a:prstGeom prst="rect">
            <a:avLst/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67728" y="3200400"/>
            <a:ext cx="3950208" cy="10972"/>
          </a:xfrm>
          <a:prstGeom prst="rect">
            <a:avLst/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67728" y="3730752"/>
            <a:ext cx="3950208" cy="10972"/>
          </a:xfrm>
          <a:prstGeom prst="rect">
            <a:avLst/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67728" y="4261103"/>
            <a:ext cx="3950208" cy="10972"/>
          </a:xfrm>
          <a:prstGeom prst="rect">
            <a:avLst/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67728" y="4791455"/>
            <a:ext cx="3950208" cy="10972"/>
          </a:xfrm>
          <a:prstGeom prst="rect">
            <a:avLst/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1170432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spc="180">
                <a:solidFill>
                  <a:srgbClr val="5EEAD4"/>
                </a:solidFill>
                <a:latin typeface="Segoe UI"/>
              </a:rPr>
              <a:t>PROJECT STATUS REVIEW  ·  MAIN BRANCH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1554480"/>
            <a:ext cx="6309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Segoe UI"/>
              </a:rPr>
              <a:t>EconoCausal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2395728"/>
            <a:ext cx="6035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900" b="0" i="0">
                <a:solidFill>
                  <a:srgbClr val="C7D2E0"/>
                </a:solidFill>
                <a:latin typeface="Segoe UI"/>
              </a:rPr>
              <a:t>Causal dynamic pricing via
Double Machine Learning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3401568"/>
            <a:ext cx="1371600" cy="2743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675887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Where the project actually stands: </a:t>
            </a:r>
            <a:r>
              <a:rPr sz="1250" b="0">
                <a:solidFill>
                  <a:srgbClr val="B6C3D4"/>
                </a:solidFill>
                <a:latin typeface="Segoe UI"/>
              </a:rPr>
              <a:t>what is built on main, what is still open, and what it takes to close the gap — evidence taken from the repository, not from the roadmap.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00">
                <a:solidFill>
                  <a:srgbClr val="94A3B8"/>
                </a:solidFill>
                <a:latin typeface="Segoe UI"/>
              </a:rPr>
              <a:t>REPOSITORY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38528" y="4832604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Segoe UI"/>
              </a:rPr>
              <a:t>snigdhasudheer/Infotact_project1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17550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00">
                <a:solidFill>
                  <a:srgbClr val="94A3B8"/>
                </a:solidFill>
                <a:latin typeface="Segoe UI"/>
              </a:rPr>
              <a:t>REVIEWED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38528" y="5161788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Segoe UI"/>
              </a:rPr>
              <a:t>27 October 2026  ·  main @ b01a204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504688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00">
                <a:solidFill>
                  <a:srgbClr val="94A3B8"/>
                </a:solidFill>
                <a:latin typeface="Segoe UI"/>
              </a:rPr>
              <a:t>PROGRAM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38528" y="5490972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Segoe UI"/>
              </a:rPr>
              <a:t>Infotact Project 1  ·  Section B 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961888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5EEAD4"/>
                </a:solidFill>
                <a:latin typeface="Segoe UI"/>
              </a:rPr>
              <a:t>41</a:t>
            </a:r>
            <a:r>
              <a:rPr sz="950" b="0">
                <a:solidFill>
                  <a:srgbClr val="94A3B8"/>
                </a:solidFill>
                <a:latin typeface="Segoe UI"/>
              </a:rPr>
              <a:t>  commits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5961888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5EEAD4"/>
                </a:solidFill>
                <a:latin typeface="Segoe UI"/>
              </a:rPr>
              <a:t>18</a:t>
            </a:r>
            <a:r>
              <a:rPr sz="950" b="0">
                <a:solidFill>
                  <a:srgbClr val="94A3B8"/>
                </a:solidFill>
                <a:latin typeface="Segoe UI"/>
              </a:rPr>
              <a:t>  merged PRs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6360" y="5961888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5EEAD4"/>
                </a:solidFill>
                <a:latin typeface="Segoe UI"/>
              </a:rPr>
              <a:t>0</a:t>
            </a:r>
            <a:r>
              <a:rPr sz="950" b="0">
                <a:solidFill>
                  <a:srgbClr val="94A3B8"/>
                </a:solidFill>
                <a:latin typeface="Segoe UI"/>
              </a:rPr>
              <a:t>  open PRs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5961888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5EEAD4"/>
                </a:solidFill>
                <a:latin typeface="Segoe UI"/>
              </a:rPr>
              <a:t>16</a:t>
            </a:r>
            <a:r>
              <a:rPr sz="950" b="0">
                <a:solidFill>
                  <a:srgbClr val="94A3B8"/>
                </a:solidFill>
                <a:latin typeface="Segoe UI"/>
              </a:rPr>
              <a:t>  unit tests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4040" y="5961888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5EEAD4"/>
                </a:solidFill>
                <a:latin typeface="Segoe UI"/>
              </a:rPr>
              <a:t>5</a:t>
            </a:r>
            <a:r>
              <a:rPr sz="950" b="0">
                <a:solidFill>
                  <a:srgbClr val="94A3B8"/>
                </a:solidFill>
                <a:latin typeface="Segoe UI"/>
              </a:rPr>
              <a:t>  API routes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06908"/>
            <a:ext cx="50292" cy="14173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02336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 spc="140">
                <a:solidFill>
                  <a:srgbClr val="0D9488"/>
                </a:solidFill>
                <a:latin typeface="Segoe UI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700" b="1" i="0">
                <a:solidFill>
                  <a:srgbClr val="0B1220"/>
                </a:solidFill>
                <a:latin typeface="Segoe UI"/>
              </a:rPr>
              <a:t>What this deck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25296"/>
            <a:ext cx="96679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Four questions, in the order a reviewer would ask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0765231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828800"/>
            <a:ext cx="5358384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1031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D5DFE8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2139696"/>
            <a:ext cx="39867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220"/>
                </a:solidFill>
                <a:latin typeface="Segoe UI"/>
              </a:rPr>
              <a:t>Where the project stands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2560320"/>
            <a:ext cx="3941064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Commits, pull requests and a measured read of the 12-point requirements checklist.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1828800"/>
            <a:ext cx="5358384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0256" y="21031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D5DFE8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24344" y="2139696"/>
            <a:ext cx="39867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220"/>
                </a:solidFill>
                <a:latin typeface="Segoe UI"/>
              </a:rPr>
              <a:t>What has been 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24344" y="2560320"/>
            <a:ext cx="3941064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Data validation, product-month export, FastAPI endpoints, React dashboard and the test suite.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749039"/>
            <a:ext cx="5358384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4023359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D5DFE8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4792" y="4059935"/>
            <a:ext cx="39867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220"/>
                </a:solidFill>
                <a:latin typeface="Segoe UI"/>
              </a:rPr>
              <a:t>What is still missing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4792" y="4480559"/>
            <a:ext cx="3941064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Treatment definition, causal DAG, DML estimates, refutation, budget optimizer and the final report.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2784" y="3749039"/>
            <a:ext cx="5358384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0256" y="4023359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D5DFE8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24344" y="4059935"/>
            <a:ext cx="39867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220"/>
                </a:solidFill>
                <a:latin typeface="Segoe UI"/>
              </a:rPr>
              <a:t>How to close the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24344" y="4480559"/>
            <a:ext cx="3941064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A sequenced four-phase plan with gates, owners, risks and the one open decision.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053328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94A3B8"/>
                </a:solidFill>
                <a:latin typeface="Segoe UI"/>
              </a:rPr>
              <a:t>Scope: only the main branch of snigdhasudheer/Infotact_project1, as reviewed on 27 October 2026. No projected results appear in this deck.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641908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EconoCausal  ·  Project status review  ·  main branch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81183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06908"/>
            <a:ext cx="50292" cy="14173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02336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 spc="140">
                <a:solidFill>
                  <a:srgbClr val="0D9488"/>
                </a:solidFill>
                <a:latin typeface="Segoe UI"/>
              </a:rPr>
              <a:t>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700" b="1" i="0">
                <a:solidFill>
                  <a:srgbClr val="0B1220"/>
                </a:solidFill>
                <a:latin typeface="Segoe UI"/>
              </a:rPr>
              <a:t>The project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25296"/>
            <a:ext cx="96679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A causal-inference study of pricing and marketing, delivered as a documented analysis plus a dashboard.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0765231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828800"/>
            <a:ext cx="6446520" cy="13898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066543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 spc="110">
                <a:solidFill>
                  <a:srgbClr val="0B1220"/>
                </a:solidFill>
                <a:latin typeface="Segoe UI"/>
              </a:rPr>
              <a:t>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2340864"/>
            <a:ext cx="57607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 i="0">
                <a:solidFill>
                  <a:srgbClr val="334155"/>
                </a:solidFill>
                <a:latin typeface="Segoe UI"/>
              </a:rPr>
              <a:t>Estimate how a pricing or marketing intervention changes customer behaviour, then spend a limited promotional budget using those estimates rather than intuition. Online Retail and Hillstrom were both assessed as candidate datasets.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401568"/>
            <a:ext cx="3108960" cy="1426464"/>
          </a:xfrm>
          <a:prstGeom prst="roundRect">
            <a:avLst>
              <a:gd name="adj" fmla="val 5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62102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10">
                <a:solidFill>
                  <a:srgbClr val="BE123C"/>
                </a:solidFill>
                <a:latin typeface="Segoe UI"/>
              </a:rPr>
              <a:t>SECTION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858768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Problem 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151376"/>
            <a:ext cx="26060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Segoe UI"/>
              </a:rPr>
              <a:t>Treatment, outcome, covariates, causal DAG, identification assumptions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05072" y="3401568"/>
            <a:ext cx="3108960" cy="1426464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9392" y="362102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10">
                <a:solidFill>
                  <a:srgbClr val="B45309"/>
                </a:solidFill>
                <a:latin typeface="Segoe UI"/>
              </a:rPr>
              <a:t>SECTION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9392" y="3858768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Methodology &amp; 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9392" y="4151376"/>
            <a:ext cx="26060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Segoe UI"/>
              </a:rPr>
              <a:t>Documentation, validation utilities, API, dashboard, reporting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9792" y="1828800"/>
            <a:ext cx="3913632" cy="32735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2084832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 spc="110">
                <a:solidFill>
                  <a:srgbClr val="0B1220"/>
                </a:solidFill>
                <a:latin typeface="Segoe UI"/>
              </a:rPr>
              <a:t>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235915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80">
                <a:solidFill>
                  <a:srgbClr val="0D9488"/>
                </a:solidFill>
                <a:latin typeface="Segoe UI"/>
              </a:rPr>
              <a:t>IN USE ON MAIN</a:t>
            </a:r>
          </a:p>
        </p:txBody>
      </p:sp>
      <p:sp>
        <p:nvSpPr>
          <p:cNvPr id="21" name="Oval 20"/>
          <p:cNvSpPr/>
          <p:nvPr/>
        </p:nvSpPr>
        <p:spPr>
          <a:xfrm>
            <a:off x="7790688" y="2665476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0144" y="2596896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Segoe UI"/>
              </a:rPr>
              <a:t>Python · pandas · openpyxl</a:t>
            </a:r>
          </a:p>
        </p:txBody>
      </p:sp>
      <p:sp>
        <p:nvSpPr>
          <p:cNvPr id="23" name="Oval 22"/>
          <p:cNvSpPr/>
          <p:nvPr/>
        </p:nvSpPr>
        <p:spPr>
          <a:xfrm>
            <a:off x="7790688" y="2921508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0144" y="285292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Segoe UI"/>
              </a:rPr>
              <a:t>FastAPI · Uvicorn</a:t>
            </a:r>
          </a:p>
        </p:txBody>
      </p:sp>
      <p:sp>
        <p:nvSpPr>
          <p:cNvPr id="25" name="Oval 24"/>
          <p:cNvSpPr/>
          <p:nvPr/>
        </p:nvSpPr>
        <p:spPr>
          <a:xfrm>
            <a:off x="7790688" y="3177540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10144" y="3108960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Segoe UI"/>
              </a:rPr>
              <a:t>React 19 · Vite</a:t>
            </a:r>
          </a:p>
        </p:txBody>
      </p:sp>
      <p:sp>
        <p:nvSpPr>
          <p:cNvPr id="27" name="Oval 26"/>
          <p:cNvSpPr/>
          <p:nvPr/>
        </p:nvSpPr>
        <p:spPr>
          <a:xfrm>
            <a:off x="7790688" y="3433572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0144" y="3364992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Segoe UI"/>
              </a:rPr>
              <a:t>Plotly.js · react-plotly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0688" y="3785616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80">
                <a:solidFill>
                  <a:srgbClr val="BE123C"/>
                </a:solidFill>
                <a:latin typeface="Segoe UI"/>
              </a:rPr>
              <a:t>PLANNED, NOT INSTALLED</a:t>
            </a:r>
          </a:p>
        </p:txBody>
      </p:sp>
      <p:sp>
        <p:nvSpPr>
          <p:cNvPr id="30" name="Oval 29"/>
          <p:cNvSpPr/>
          <p:nvPr/>
        </p:nvSpPr>
        <p:spPr>
          <a:xfrm>
            <a:off x="7790688" y="4091940"/>
            <a:ext cx="91440" cy="91440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0144" y="4023360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Segoe UI"/>
              </a:rPr>
              <a:t>EconML (Double ML)</a:t>
            </a:r>
          </a:p>
        </p:txBody>
      </p:sp>
      <p:sp>
        <p:nvSpPr>
          <p:cNvPr id="32" name="Oval 31"/>
          <p:cNvSpPr/>
          <p:nvPr/>
        </p:nvSpPr>
        <p:spPr>
          <a:xfrm>
            <a:off x="7790688" y="4347972"/>
            <a:ext cx="91440" cy="91440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10144" y="4279392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Segoe UI"/>
              </a:rPr>
              <a:t>DoWhy (refutation)</a:t>
            </a:r>
          </a:p>
        </p:txBody>
      </p:sp>
      <p:sp>
        <p:nvSpPr>
          <p:cNvPr id="34" name="Oval 33"/>
          <p:cNvSpPr/>
          <p:nvPr/>
        </p:nvSpPr>
        <p:spPr>
          <a:xfrm>
            <a:off x="7790688" y="4604004"/>
            <a:ext cx="91440" cy="91440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10144" y="4535424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Segoe UI"/>
              </a:rPr>
              <a:t>SciPy (optimizer)</a:t>
            </a:r>
          </a:p>
        </p:txBody>
      </p:sp>
      <p:sp>
        <p:nvSpPr>
          <p:cNvPr id="36" name="Oval 35"/>
          <p:cNvSpPr/>
          <p:nvPr/>
        </p:nvSpPr>
        <p:spPr>
          <a:xfrm>
            <a:off x="7790688" y="4860036"/>
            <a:ext cx="91440" cy="91440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10144" y="4791456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Segoe UI"/>
              </a:rPr>
              <a:t>scikit-learn (nuisance models)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502920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 spc="100">
                <a:solidFill>
                  <a:srgbClr val="0B1220"/>
                </a:solidFill>
                <a:latin typeface="Segoe UI"/>
              </a:rPr>
              <a:t>DELIVERY SO FAR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" y="5541264"/>
            <a:ext cx="10399471" cy="12801"/>
          </a:xfrm>
          <a:prstGeom prst="rect">
            <a:avLst/>
          </a:prstGeom>
          <a:solidFill>
            <a:srgbClr val="D8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17804" y="5490972"/>
            <a:ext cx="118872" cy="11887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2376" y="5687568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B1220"/>
                </a:solidFill>
                <a:latin typeface="Segoe UI"/>
              </a:rPr>
              <a:t>Day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" y="5888736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Dataset overview</a:t>
            </a:r>
          </a:p>
        </p:txBody>
      </p:sp>
      <p:sp>
        <p:nvSpPr>
          <p:cNvPr id="43" name="Oval 42"/>
          <p:cNvSpPr/>
          <p:nvPr/>
        </p:nvSpPr>
        <p:spPr>
          <a:xfrm>
            <a:off x="2546603" y="5490972"/>
            <a:ext cx="118872" cy="11887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51176" y="5687568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B1220"/>
                </a:solidFill>
                <a:latin typeface="Segoe UI"/>
              </a:rPr>
              <a:t>Day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51176" y="5888736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Decision + schema</a:t>
            </a:r>
          </a:p>
        </p:txBody>
      </p:sp>
      <p:sp>
        <p:nvSpPr>
          <p:cNvPr id="46" name="Oval 45"/>
          <p:cNvSpPr/>
          <p:nvPr/>
        </p:nvSpPr>
        <p:spPr>
          <a:xfrm>
            <a:off x="4375404" y="5490972"/>
            <a:ext cx="118872" cy="11887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79976" y="5687568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B1220"/>
                </a:solidFill>
                <a:latin typeface="Segoe UI"/>
              </a:rPr>
              <a:t>Day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79976" y="5888736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Hillstrom QA</a:t>
            </a:r>
          </a:p>
        </p:txBody>
      </p:sp>
      <p:sp>
        <p:nvSpPr>
          <p:cNvPr id="49" name="Oval 48"/>
          <p:cNvSpPr/>
          <p:nvPr/>
        </p:nvSpPr>
        <p:spPr>
          <a:xfrm>
            <a:off x="6204204" y="5490972"/>
            <a:ext cx="118872" cy="11887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08776" y="5687568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B1220"/>
                </a:solidFill>
                <a:latin typeface="Segoe UI"/>
              </a:rPr>
              <a:t>Day 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08776" y="5888736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Dashboard shell</a:t>
            </a:r>
          </a:p>
        </p:txBody>
      </p:sp>
      <p:sp>
        <p:nvSpPr>
          <p:cNvPr id="52" name="Oval 51"/>
          <p:cNvSpPr/>
          <p:nvPr/>
        </p:nvSpPr>
        <p:spPr>
          <a:xfrm>
            <a:off x="8033004" y="5490972"/>
            <a:ext cx="118872" cy="11887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37575" y="5687568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B1220"/>
                </a:solidFill>
                <a:latin typeface="Segoe UI"/>
              </a:rPr>
              <a:t>Day 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37575" y="5888736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Methodology</a:t>
            </a:r>
          </a:p>
        </p:txBody>
      </p:sp>
      <p:sp>
        <p:nvSpPr>
          <p:cNvPr id="55" name="Oval 54"/>
          <p:cNvSpPr/>
          <p:nvPr/>
        </p:nvSpPr>
        <p:spPr>
          <a:xfrm>
            <a:off x="9861804" y="5490972"/>
            <a:ext cx="118872" cy="11887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66376" y="5687568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B1220"/>
                </a:solidFill>
                <a:latin typeface="Segoe UI"/>
              </a:rPr>
              <a:t>Day 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66376" y="5888736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Export + validator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3232" y="641908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EconoCausal  ·  Project status review  ·  main branch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81183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06908"/>
            <a:ext cx="50292" cy="14173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02336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 spc="140">
                <a:solidFill>
                  <a:srgbClr val="0D9488"/>
                </a:solidFill>
                <a:latin typeface="Segoe UI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700" b="1" i="0">
                <a:solidFill>
                  <a:srgbClr val="0B1220"/>
                </a:solidFill>
                <a:latin typeface="Segoe UI"/>
              </a:rPr>
              <a:t>Where main stands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25296"/>
            <a:ext cx="96679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Counted directly from the repository, not from the roadmap in the codebase.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0765231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828800"/>
            <a:ext cx="2540431" cy="13898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048256"/>
            <a:ext cx="20832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D9488"/>
                </a:solidFill>
                <a:latin typeface="Segoe UI"/>
              </a:rPr>
              <a:t>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560320"/>
            <a:ext cx="2083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B1220"/>
                </a:solidFill>
                <a:latin typeface="Segoe UI"/>
              </a:rPr>
              <a:t>commits on 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798064"/>
            <a:ext cx="208323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Segoe UI"/>
              </a:rPr>
              <a:t>18 merged pull requests · 0 open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4831" y="1828800"/>
            <a:ext cx="2540431" cy="13898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9151" y="2048256"/>
            <a:ext cx="20832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D9488"/>
                </a:solidFill>
                <a:latin typeface="Segoe UI"/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9151" y="2560320"/>
            <a:ext cx="2083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B1220"/>
                </a:solidFill>
                <a:latin typeface="Segoe UI"/>
              </a:rPr>
              <a:t>merged PRs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9151" y="2798064"/>
            <a:ext cx="208323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Segoe UI"/>
              </a:rPr>
              <a:t>every PR since Day 1 merged cleanly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6431" y="1828800"/>
            <a:ext cx="2540431" cy="13898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0751" y="2048256"/>
            <a:ext cx="20832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D9488"/>
                </a:solidFill>
                <a:latin typeface="Segoe UI"/>
              </a:rPr>
              <a:t>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0751" y="2560320"/>
            <a:ext cx="2083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B1220"/>
                </a:solidFill>
                <a:latin typeface="Segoe UI"/>
              </a:rPr>
              <a:t>unit tests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0751" y="2798064"/>
            <a:ext cx="208323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Segoe UI"/>
              </a:rPr>
              <a:t>Python utilities only · no CI workflow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8031" y="1828800"/>
            <a:ext cx="2540431" cy="13898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12351" y="2048256"/>
            <a:ext cx="20832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D9488"/>
                </a:solidFill>
                <a:latin typeface="Segoe U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2351" y="2560320"/>
            <a:ext cx="2083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B1220"/>
                </a:solidFill>
                <a:latin typeface="Segoe UI"/>
              </a:rPr>
              <a:t>API routes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351" y="2798064"/>
            <a:ext cx="208323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Segoe UI"/>
              </a:rPr>
              <a:t>health, upload, export, report, root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529584"/>
            <a:ext cx="10765231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376732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 spc="110">
                <a:solidFill>
                  <a:srgbClr val="0B1220"/>
                </a:solidFill>
                <a:latin typeface="Segoe UI"/>
              </a:rPr>
              <a:t>REQUIREMENTS CHECKLIST, RE-SCORED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" y="4041648"/>
            <a:ext cx="3840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0B1220"/>
                </a:solidFill>
                <a:latin typeface="Segoe UI"/>
              </a:rPr>
              <a:t>33</a:t>
            </a:r>
            <a:r>
              <a:rPr sz="1800" b="1">
                <a:solidFill>
                  <a:srgbClr val="64748B"/>
                </a:solidFill>
                <a:latin typeface="Segoe UI"/>
              </a:rPr>
              <a:t>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464515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Segoe UI"/>
              </a:rPr>
              <a:t>2 of 12 requirements complete,
4 partially delivered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6552" y="4187952"/>
            <a:ext cx="457200" cy="274320"/>
          </a:xfrm>
          <a:prstGeom prst="roundRect">
            <a:avLst>
              <a:gd name="adj" fmla="val 3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942332" y="4187952"/>
            <a:ext cx="457200" cy="274320"/>
          </a:xfrm>
          <a:prstGeom prst="roundRect">
            <a:avLst>
              <a:gd name="adj" fmla="val 3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68112" y="4187952"/>
            <a:ext cx="457200" cy="274320"/>
          </a:xfrm>
          <a:prstGeom prst="roundRect">
            <a:avLst>
              <a:gd name="adj" fmla="val 35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68112" y="4187952"/>
            <a:ext cx="228600" cy="274320"/>
          </a:xfrm>
          <a:prstGeom prst="roundRect">
            <a:avLst>
              <a:gd name="adj" fmla="val 35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993892" y="4187952"/>
            <a:ext cx="457200" cy="274320"/>
          </a:xfrm>
          <a:prstGeom prst="roundRect">
            <a:avLst>
              <a:gd name="adj" fmla="val 3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19672" y="4187952"/>
            <a:ext cx="457200" cy="274320"/>
          </a:xfrm>
          <a:prstGeom prst="roundRect">
            <a:avLst>
              <a:gd name="adj" fmla="val 3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045452" y="4187952"/>
            <a:ext cx="457200" cy="274320"/>
          </a:xfrm>
          <a:prstGeom prst="roundRect">
            <a:avLst>
              <a:gd name="adj" fmla="val 3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571231" y="4187952"/>
            <a:ext cx="457200" cy="274320"/>
          </a:xfrm>
          <a:prstGeom prst="roundRect">
            <a:avLst>
              <a:gd name="adj" fmla="val 3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097012" y="4187952"/>
            <a:ext cx="457200" cy="274320"/>
          </a:xfrm>
          <a:prstGeom prst="roundRect">
            <a:avLst>
              <a:gd name="adj" fmla="val 3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622792" y="4187952"/>
            <a:ext cx="457200" cy="274320"/>
          </a:xfrm>
          <a:prstGeom prst="roundRect">
            <a:avLst>
              <a:gd name="adj" fmla="val 35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622792" y="4187952"/>
            <a:ext cx="228600" cy="274320"/>
          </a:xfrm>
          <a:prstGeom prst="roundRect">
            <a:avLst>
              <a:gd name="adj" fmla="val 35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148572" y="4187952"/>
            <a:ext cx="457200" cy="274320"/>
          </a:xfrm>
          <a:prstGeom prst="roundRect">
            <a:avLst>
              <a:gd name="adj" fmla="val 35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148572" y="4187952"/>
            <a:ext cx="228600" cy="274320"/>
          </a:xfrm>
          <a:prstGeom prst="roundRect">
            <a:avLst>
              <a:gd name="adj" fmla="val 35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674352" y="4187952"/>
            <a:ext cx="457200" cy="274320"/>
          </a:xfrm>
          <a:prstGeom prst="roundRect">
            <a:avLst>
              <a:gd name="adj" fmla="val 35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674352" y="4187952"/>
            <a:ext cx="228600" cy="274320"/>
          </a:xfrm>
          <a:prstGeom prst="roundRect">
            <a:avLst>
              <a:gd name="adj" fmla="val 35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200132" y="4187952"/>
            <a:ext cx="457200" cy="274320"/>
          </a:xfrm>
          <a:prstGeom prst="roundRect">
            <a:avLst>
              <a:gd name="adj" fmla="val 3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416552" y="4690872"/>
            <a:ext cx="109728" cy="10972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99432" y="464515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Complete</a:t>
            </a:r>
          </a:p>
        </p:txBody>
      </p:sp>
      <p:sp>
        <p:nvSpPr>
          <p:cNvPr id="45" name="Oval 44"/>
          <p:cNvSpPr/>
          <p:nvPr/>
        </p:nvSpPr>
        <p:spPr>
          <a:xfrm>
            <a:off x="6016752" y="4690872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99632" y="464515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Partial</a:t>
            </a:r>
          </a:p>
        </p:txBody>
      </p:sp>
      <p:sp>
        <p:nvSpPr>
          <p:cNvPr id="47" name="Oval 46"/>
          <p:cNvSpPr/>
          <p:nvPr/>
        </p:nvSpPr>
        <p:spPr>
          <a:xfrm>
            <a:off x="7616952" y="4690872"/>
            <a:ext cx="109728" cy="109728"/>
          </a:xfrm>
          <a:prstGeom prst="ellipse">
            <a:avLst/>
          </a:prstGeom>
          <a:solidFill>
            <a:srgbClr val="D3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99831" y="464515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Not started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16552" y="4992624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1">
                <a:solidFill>
                  <a:srgbClr val="94A3B8"/>
                </a:solidFill>
                <a:latin typeface="Segoe UI"/>
              </a:rPr>
              <a:t>Ticks are this review's assessment; docs/requirements-checklist.md still shows 0/12 and calls the backend “pending”, which main has already overtaken.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" y="583387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1220"/>
                </a:solidFill>
                <a:latin typeface="Segoe UI"/>
              </a:rPr>
              <a:t>3</a:t>
            </a:r>
            <a:r>
              <a:rPr sz="950" b="0">
                <a:solidFill>
                  <a:srgbClr val="64748B"/>
                </a:solidFill>
                <a:latin typeface="Segoe UI"/>
              </a:rPr>
              <a:t>   contributors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26080" y="583387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1220"/>
                </a:solidFill>
                <a:latin typeface="Segoe UI"/>
              </a:rPr>
              <a:t>5</a:t>
            </a:r>
            <a:r>
              <a:rPr sz="950" b="0">
                <a:solidFill>
                  <a:srgbClr val="64748B"/>
                </a:solidFill>
                <a:latin typeface="Segoe UI"/>
              </a:rPr>
              <a:t>   notebooks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38928" y="583387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1220"/>
                </a:solidFill>
                <a:latin typeface="Segoe UI"/>
              </a:rPr>
              <a:t>3</a:t>
            </a:r>
            <a:r>
              <a:rPr sz="950" b="0">
                <a:solidFill>
                  <a:srgbClr val="64748B"/>
                </a:solidFill>
                <a:latin typeface="Segoe UI"/>
              </a:rPr>
              <a:t>   docs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51775" y="583387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1220"/>
                </a:solidFill>
                <a:latin typeface="Segoe UI"/>
              </a:rPr>
              <a:t>5.9</a:t>
            </a:r>
            <a:r>
              <a:rPr sz="950" b="0">
                <a:solidFill>
                  <a:srgbClr val="64748B"/>
                </a:solidFill>
                <a:latin typeface="Segoe UI"/>
              </a:rPr>
              <a:t>   k lines JSX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64624" y="583387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1220"/>
                </a:solidFill>
                <a:latin typeface="Segoe UI"/>
              </a:rPr>
              <a:t>0</a:t>
            </a:r>
            <a:r>
              <a:rPr sz="950" b="0">
                <a:solidFill>
                  <a:srgbClr val="64748B"/>
                </a:solidFill>
                <a:latin typeface="Segoe UI"/>
              </a:rPr>
              <a:t>   CI workflows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" y="641908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EconoCausal  ·  Project status review  ·  main branch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81183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06908"/>
            <a:ext cx="50292" cy="14173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02336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 spc="140">
                <a:solidFill>
                  <a:srgbClr val="0D9488"/>
                </a:solidFill>
                <a:latin typeface="Segoe UI"/>
              </a:rPr>
              <a:t>DELIVERED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700" b="1" i="0">
                <a:solidFill>
                  <a:srgbClr val="0B1220"/>
                </a:solidFill>
                <a:latin typeface="Segoe UI"/>
              </a:rPr>
              <a:t>Six milestones already on 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25296"/>
            <a:ext cx="96679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Each card is backed by merged pull requests and files in the repository.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0765231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828800"/>
            <a:ext cx="3529584" cy="18836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828800"/>
            <a:ext cx="41148" cy="18836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04825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1" i="0" spc="110">
                <a:solidFill>
                  <a:srgbClr val="0D9488"/>
                </a:solidFill>
                <a:latin typeface="Segoe UI"/>
              </a:rPr>
              <a:t>DAY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286000"/>
            <a:ext cx="302666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Dataset decision &amp;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779776"/>
            <a:ext cx="299923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80" b="0" i="0">
                <a:solidFill>
                  <a:srgbClr val="64748B"/>
                </a:solidFill>
                <a:latin typeface="Segoe UI"/>
              </a:rPr>
              <a:t>Online Retail and Hillstrom compared, schemas documented, and the causal limits of each written down.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438144"/>
            <a:ext cx="30266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94A3B8"/>
                </a:solidFill>
                <a:latin typeface="Segoe UI"/>
              </a:rPr>
              <a:t>#1 – #4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1828800"/>
            <a:ext cx="3529584" cy="18836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25696" y="1828800"/>
            <a:ext cx="41148" cy="18836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0016" y="204825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1" i="0" spc="110">
                <a:solidFill>
                  <a:srgbClr val="0D9488"/>
                </a:solidFill>
                <a:latin typeface="Segoe UI"/>
              </a:rPr>
              <a:t>DAY 2–3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2286000"/>
            <a:ext cx="302666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Cleaning &amp; upload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6" y="2779776"/>
            <a:ext cx="299923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80" b="0" i="0">
                <a:solidFill>
                  <a:srgbClr val="64748B"/>
                </a:solidFill>
                <a:latin typeface="Segoe UI"/>
              </a:rPr>
              <a:t>Eight required columns enforced; duplicates, missing values and non-positive values handled. 5 tests.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3438144"/>
            <a:ext cx="30266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94A3B8"/>
                </a:solidFill>
                <a:latin typeface="Segoe UI"/>
              </a:rPr>
              <a:t>#3, #9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59" y="1828800"/>
            <a:ext cx="3529584" cy="18836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59" y="1828800"/>
            <a:ext cx="41148" cy="18836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04825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1" i="0" spc="110">
                <a:solidFill>
                  <a:srgbClr val="0D9488"/>
                </a:solidFill>
                <a:latin typeface="Segoe UI"/>
              </a:rPr>
              <a:t>DAY 3–4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286000"/>
            <a:ext cx="302666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Hillstrom quality &amp; treatment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779776"/>
            <a:ext cx="299923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80" b="0" i="0">
                <a:solidFill>
                  <a:srgbClr val="64748B"/>
                </a:solidFill>
                <a:latin typeface="Segoe UI"/>
              </a:rPr>
              <a:t>Missing values, duplicate profiles and the three marketing segments profiled before any modelling.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438144"/>
            <a:ext cx="30266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94A3B8"/>
                </a:solidFill>
                <a:latin typeface="Segoe UI"/>
              </a:rPr>
              <a:t>#5, #6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931920"/>
            <a:ext cx="3529584" cy="18836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" y="3931920"/>
            <a:ext cx="41148" cy="18836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415137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1" i="0" spc="110">
                <a:solidFill>
                  <a:srgbClr val="0D9488"/>
                </a:solidFill>
                <a:latin typeface="Segoe UI"/>
              </a:rPr>
              <a:t>DAY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4389120"/>
            <a:ext cx="302666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Dashboard shell &amp; navigation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" y="4882896"/>
            <a:ext cx="299923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80" b="0" i="0">
                <a:solidFill>
                  <a:srgbClr val="64748B"/>
                </a:solidFill>
                <a:latin typeface="Segoe UI"/>
              </a:rPr>
              <a:t>React + Plotly layout with a working sidebar, GitHub commit feed and merged-PR panel.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5541264"/>
            <a:ext cx="30266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94A3B8"/>
                </a:solidFill>
                <a:latin typeface="Segoe UI"/>
              </a:rPr>
              <a:t>#7, #11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25696" y="3931920"/>
            <a:ext cx="3529584" cy="18836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25696" y="3931920"/>
            <a:ext cx="41148" cy="18836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0016" y="415137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1" i="0" spc="110">
                <a:solidFill>
                  <a:srgbClr val="0D9488"/>
                </a:solidFill>
                <a:latin typeface="Segoe UI"/>
              </a:rPr>
              <a:t>DAY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4389120"/>
            <a:ext cx="302666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Methodology &amp; assumptions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0016" y="4882896"/>
            <a:ext cx="299923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80" b="0" i="0">
                <a:solidFill>
                  <a:srgbClr val="64748B"/>
                </a:solidFill>
                <a:latin typeface="Segoe UI"/>
              </a:rPr>
              <a:t>Eight identification assumptions documented, plus the exact limits of observational price data.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0016" y="5541264"/>
            <a:ext cx="30266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94A3B8"/>
                </a:solidFill>
                <a:latin typeface="Segoe UI"/>
              </a:rPr>
              <a:t>#10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59" y="3931920"/>
            <a:ext cx="3529584" cy="18836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38159" y="3931920"/>
            <a:ext cx="41148" cy="18836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415137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1" i="0" spc="110">
                <a:solidFill>
                  <a:srgbClr val="0D9488"/>
                </a:solidFill>
                <a:latin typeface="Segoe UI"/>
              </a:rPr>
              <a:t>DAY 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389120"/>
            <a:ext cx="302666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Export, validator &amp; report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882896"/>
            <a:ext cx="299923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80" b="0" i="0">
                <a:solidFill>
                  <a:srgbClr val="64748B"/>
                </a:solidFill>
                <a:latin typeface="Segoe UI"/>
              </a:rPr>
              <a:t>Product-month CSV export, six-column CSV validator with 7 tests, and a downloadable dataset report.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5541264"/>
            <a:ext cx="30266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94A3B8"/>
                </a:solidFill>
                <a:latin typeface="Segoe UI"/>
              </a:rPr>
              <a:t>#12 – #18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60533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94A3B8"/>
                </a:solidFill>
                <a:latin typeface="Segoe UI"/>
              </a:rPr>
              <a:t>All 18 pull requests were merged into main; nothing is sitting open or unreviewed.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" y="641908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EconoCausal  ·  Project status review  ·  main branch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81183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06908"/>
            <a:ext cx="50292" cy="14173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02336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 spc="140">
                <a:solidFill>
                  <a:srgbClr val="0D9488"/>
                </a:solidFill>
                <a:latin typeface="Segoe UI"/>
              </a:rPr>
              <a:t>DELIVERED · DATA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700" b="1" i="0">
                <a:solidFill>
                  <a:srgbClr val="0B1220"/>
                </a:solidFill>
                <a:latin typeface="Segoe UI"/>
              </a:rPr>
              <a:t>The data foundation is solid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25296"/>
            <a:ext cx="96679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Two datasets inspected and documented — with the caveats that decide what can be estimated later.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0765231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828800"/>
            <a:ext cx="5532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38344" y="2066543"/>
            <a:ext cx="896112" cy="23774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PRIMARY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066543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B1220"/>
                </a:solidFill>
                <a:latin typeface="Segoe UI"/>
              </a:rPr>
              <a:t>Online Retail  ·  UCI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377440"/>
            <a:ext cx="4892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541,909 rows × 8 columns  →  524,878 rows × 9 columns after cleaning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670048"/>
            <a:ext cx="5129783" cy="384048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2724912"/>
            <a:ext cx="3794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Segoe UI"/>
              </a:rPr>
              <a:t>Exact duplicate rows removed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2" y="272491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B1220"/>
                </a:solidFill>
                <a:latin typeface="Segoe UI"/>
              </a:rPr>
              <a:t>5,268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" y="3108960"/>
            <a:ext cx="3794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Segoe UI"/>
              </a:rPr>
              <a:t>Missing Description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310896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B1220"/>
                </a:solidFill>
                <a:latin typeface="Segoe UI"/>
              </a:rPr>
              <a:t>1,454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438144"/>
            <a:ext cx="5129783" cy="384048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3493008"/>
            <a:ext cx="3794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Segoe UI"/>
              </a:rPr>
              <a:t>Missing CustomerID (kept)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349300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B1220"/>
                </a:solidFill>
                <a:latin typeface="Segoe UI"/>
              </a:rPr>
              <a:t>135,080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" y="3877056"/>
            <a:ext cx="3794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Segoe UI"/>
              </a:rPr>
              <a:t>UnitPrice ≤ 0 / Quantity ≤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8032" y="3877056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B1220"/>
                </a:solidFill>
                <a:latin typeface="Segoe UI"/>
              </a:rPr>
              <a:t>2,517 / 10,624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4297680"/>
            <a:ext cx="4892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0D9488"/>
                </a:solidFill>
                <a:latin typeface="Segoe UI"/>
              </a:rPr>
              <a:t>Revenue = Quantity × UnitPrice added as the analysis feature.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83096" y="1828800"/>
            <a:ext cx="4995367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234879" y="2066543"/>
            <a:ext cx="1170432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>
                <a:solidFill>
                  <a:srgbClr val="64748B"/>
                </a:solidFill>
                <a:latin typeface="Segoe UI"/>
              </a:rPr>
              <a:t>SECONDARY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93992" y="2066543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B1220"/>
                </a:solidFill>
                <a:latin typeface="Segoe UI"/>
              </a:rPr>
              <a:t>Hillstrom  ·  e-mail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3992" y="2377440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64,000 rows × 12 columns  ·  0 missing values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84264" y="2670048"/>
            <a:ext cx="4593031" cy="384048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2724912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Segoe UI"/>
              </a:rPr>
              <a:t>Randomised arms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9056" y="2724912"/>
            <a:ext cx="2148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1" i="0">
                <a:solidFill>
                  <a:srgbClr val="0B1220"/>
                </a:solidFill>
                <a:latin typeface="Segoe UI"/>
              </a:rPr>
              <a:t>Mens / Womens / No e-mail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3145536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Segoe UI"/>
              </a:rPr>
              <a:t>Outcomes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9056" y="3145536"/>
            <a:ext cx="2148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1" i="0">
                <a:solidFill>
                  <a:srgbClr val="0B1220"/>
                </a:solidFill>
                <a:latin typeface="Segoe UI"/>
              </a:rPr>
              <a:t>visit, conversion, spend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84264" y="3511296"/>
            <a:ext cx="4593031" cy="384048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3566160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Segoe UI"/>
              </a:rPr>
              <a:t>Duplicate rows flagged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49056" y="3566160"/>
            <a:ext cx="2148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1" i="0">
                <a:solidFill>
                  <a:srgbClr val="0B1220"/>
                </a:solidFill>
                <a:latin typeface="Segoe UI"/>
              </a:rPr>
              <a:t>6,562  (not removed)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3986784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Segoe UI"/>
              </a:rPr>
              <a:t>Treatment type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49056" y="3986784"/>
            <a:ext cx="2148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1" i="0">
                <a:solidFill>
                  <a:srgbClr val="0B1220"/>
                </a:solidFill>
                <a:latin typeface="Segoe UI"/>
              </a:rPr>
              <a:t>e-mail, not price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93992" y="4297680"/>
            <a:ext cx="3977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B45309"/>
                </a:solidFill>
                <a:latin typeface="Segoe UI"/>
              </a:rPr>
              <a:t>Only randomised arm in either dataset.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4828031"/>
            <a:ext cx="55321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1">
                <a:solidFill>
                  <a:srgbClr val="0B1220"/>
                </a:solidFill>
                <a:latin typeface="Segoe UI"/>
              </a:rPr>
              <a:t>Why two datasets  —  </a:t>
            </a:r>
            <a:r>
              <a:rPr sz="1000" b="0">
                <a:solidFill>
                  <a:srgbClr val="64748B"/>
                </a:solidFill>
                <a:latin typeface="Segoe UI"/>
              </a:rPr>
              <a:t>No shared column or join key exists, so they stay separate; merging them was explicitly rejected in Day 2.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83096" y="4828031"/>
            <a:ext cx="499536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1">
                <a:solidFill>
                  <a:srgbClr val="0B1220"/>
                </a:solidFill>
                <a:latin typeface="Segoe UI"/>
              </a:rPr>
              <a:t>Open item  —  </a:t>
            </a:r>
            <a:r>
              <a:rPr sz="1000" b="0">
                <a:solidFill>
                  <a:srgbClr val="64748B"/>
                </a:solidFill>
                <a:latin typeface="Segoe UI"/>
              </a:rPr>
              <a:t>Hillstrom's 6,562 duplicate profiles were flagged but not investigated — removing them now would change the estimand.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" y="5577840"/>
            <a:ext cx="10765231" cy="786384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4128" y="5742431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00">
                <a:solidFill>
                  <a:srgbClr val="0B1220"/>
                </a:solidFill>
                <a:latin typeface="Segoe UI"/>
              </a:rPr>
              <a:t>HAND-OFF SCHEMA  ·  PRODUCT_MONTH_SUMMARY.CSV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" y="6016752"/>
            <a:ext cx="101251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0D9488"/>
                </a:solidFill>
                <a:latin typeface="Consolas"/>
              </a:rPr>
              <a:t>StockCode  ·  Month  ·  Average_Price  ·  Total_Quantity  ·  Total_Revenue  ·  Transaction_Count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51192" y="5742431"/>
            <a:ext cx="40233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Segoe UI"/>
              </a:rPr>
              <a:t>Six columns, validated before the dashboard consumes them. This is the table the causal stage must build 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641908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EconoCausal  ·  Project status review  ·  main branch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81183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06908"/>
            <a:ext cx="50292" cy="14173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02336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 spc="140">
                <a:solidFill>
                  <a:srgbClr val="0D9488"/>
                </a:solidFill>
                <a:latin typeface="Segoe UI"/>
              </a:rPr>
              <a:t>DELIVERED · APPLICATION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700" b="1" i="0">
                <a:solidFill>
                  <a:srgbClr val="0B1220"/>
                </a:solidFill>
                <a:latin typeface="Segoe UI"/>
              </a:rPr>
              <a:t>What actually runs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25296"/>
            <a:ext cx="96679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A working upload → validate → export → report pipeline, wrapped in a React dashboard.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0765231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828800"/>
            <a:ext cx="598932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04825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 spc="100">
                <a:solidFill>
                  <a:srgbClr val="0B1220"/>
                </a:solidFill>
                <a:latin typeface="Segoe UI"/>
              </a:rPr>
              <a:t>FASTAPI  ·  MAIN.PY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350008"/>
            <a:ext cx="5586983" cy="512064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24128" y="2441448"/>
            <a:ext cx="475488" cy="23774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Segoe UI"/>
              </a:rPr>
              <a:t>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14016"/>
            <a:ext cx="2606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0B1220"/>
                </a:solidFill>
                <a:latin typeface="Consolas"/>
              </a:rPr>
              <a:t>/api/health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2642616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Liveness probe for the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2916936"/>
            <a:ext cx="475488" cy="237744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Segoe UI"/>
              </a:rPr>
              <a:t>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889504"/>
            <a:ext cx="2606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0B1220"/>
                </a:solidFill>
                <a:latin typeface="Consolas"/>
              </a:rPr>
              <a:t>/api/upload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91056" y="3118104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.xlsx validation, 5-row preview, summary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300984"/>
            <a:ext cx="5586983" cy="512064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24128" y="3392424"/>
            <a:ext cx="475488" cy="237744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Segoe UI"/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3364992"/>
            <a:ext cx="2606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0B1220"/>
                </a:solidFill>
                <a:latin typeface="Consolas"/>
              </a:rPr>
              <a:t>/api/export-product-month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91056" y="3593592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Product-month CSV, 6 columns, 2-dp rounding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3867911"/>
            <a:ext cx="475488" cy="237744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Segoe UI"/>
              </a:rPr>
              <a:t>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91056" y="3840479"/>
            <a:ext cx="2606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0B1220"/>
                </a:solidFill>
                <a:latin typeface="Consolas"/>
              </a:rPr>
              <a:t>/api/dataset-report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1056" y="4069079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Plain-text data-quality report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251959"/>
            <a:ext cx="5586983" cy="512064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24128" y="4343399"/>
            <a:ext cx="475488" cy="23774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Segoe UI"/>
              </a:rPr>
              <a:t>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91056" y="4315967"/>
            <a:ext cx="2606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0B1220"/>
                </a:solidFill>
                <a:latin typeface="Consolas"/>
              </a:rPr>
              <a:t>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4544567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Service banner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4773168"/>
            <a:ext cx="5349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0" i="1">
                <a:solidFill>
                  <a:srgbClr val="64748B"/>
                </a:solidFill>
                <a:latin typeface="Segoe UI"/>
              </a:rPr>
              <a:t>Type check on every route; bad input returns 400, never a silent 200.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22008" y="1828800"/>
            <a:ext cx="4556455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32904" y="2066543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 spc="100">
                <a:solidFill>
                  <a:srgbClr val="0B1220"/>
                </a:solidFill>
                <a:latin typeface="Segoe UI"/>
              </a:rPr>
              <a:t>REACT DASHBOARD  ·  VITE</a:t>
            </a:r>
          </a:p>
        </p:txBody>
      </p:sp>
      <p:sp>
        <p:nvSpPr>
          <p:cNvPr id="30" name="Oval 29"/>
          <p:cNvSpPr/>
          <p:nvPr/>
        </p:nvSpPr>
        <p:spPr>
          <a:xfrm>
            <a:off x="7232904" y="2532888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2360" y="2450592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B1220"/>
                </a:solidFill>
                <a:latin typeface="Segoe UI"/>
              </a:rPr>
              <a:t>Sidebar navigation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2651760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6 sections wired to smooth scroll</a:t>
            </a:r>
          </a:p>
        </p:txBody>
      </p:sp>
      <p:sp>
        <p:nvSpPr>
          <p:cNvPr id="33" name="Oval 32"/>
          <p:cNvSpPr/>
          <p:nvPr/>
        </p:nvSpPr>
        <p:spPr>
          <a:xfrm>
            <a:off x="7232904" y="2962656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2880360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B1220"/>
                </a:solidFill>
                <a:latin typeface="Segoe UI"/>
              </a:rPr>
              <a:t>Upload panel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081528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Drag-drop .xlsx, preview table, summary tiles</a:t>
            </a:r>
          </a:p>
        </p:txBody>
      </p:sp>
      <p:sp>
        <p:nvSpPr>
          <p:cNvPr id="36" name="Oval 35"/>
          <p:cNvSpPr/>
          <p:nvPr/>
        </p:nvSpPr>
        <p:spPr>
          <a:xfrm>
            <a:off x="7232904" y="3392424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60" y="3310128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B1220"/>
                </a:solidFill>
                <a:latin typeface="Segoe UI"/>
              </a:rPr>
              <a:t>Export + report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3511296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Downloads CSV and .txt from the API</a:t>
            </a:r>
          </a:p>
        </p:txBody>
      </p:sp>
      <p:sp>
        <p:nvSpPr>
          <p:cNvPr id="39" name="Oval 38"/>
          <p:cNvSpPr/>
          <p:nvPr/>
        </p:nvSpPr>
        <p:spPr>
          <a:xfrm>
            <a:off x="7232904" y="3822191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52360" y="3739896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B1220"/>
                </a:solidFill>
                <a:latin typeface="Segoe UI"/>
              </a:rPr>
              <a:t>GitHub activity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2360" y="3941063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Live commits and merged PRs from main</a:t>
            </a:r>
          </a:p>
        </p:txBody>
      </p:sp>
      <p:sp>
        <p:nvSpPr>
          <p:cNvPr id="42" name="Oval 41"/>
          <p:cNvSpPr/>
          <p:nvPr/>
        </p:nvSpPr>
        <p:spPr>
          <a:xfrm>
            <a:off x="7232904" y="4251959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52360" y="4169663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B1220"/>
                </a:solidFill>
                <a:latin typeface="Segoe UI"/>
              </a:rPr>
              <a:t>Plotly EDA charts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2360" y="4370831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Component built, waiting on data</a:t>
            </a:r>
          </a:p>
        </p:txBody>
      </p:sp>
      <p:sp>
        <p:nvSpPr>
          <p:cNvPr id="45" name="Oval 44"/>
          <p:cNvSpPr/>
          <p:nvPr/>
        </p:nvSpPr>
        <p:spPr>
          <a:xfrm>
            <a:off x="7232904" y="4681727"/>
            <a:ext cx="91440" cy="91440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52360" y="4599431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B1220"/>
                </a:solidFill>
                <a:latin typeface="Segoe UI"/>
              </a:rPr>
              <a:t>Recommendations, budget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52360" y="4800599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Placeholders only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" y="5394960"/>
            <a:ext cx="1076523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B1220"/>
                </a:solidFill>
                <a:latin typeface="Segoe UI"/>
              </a:rPr>
              <a:t>Read this as a pipeline, not a model.  </a:t>
            </a:r>
            <a:r>
              <a:rPr sz="1050" b="0">
                <a:solidFill>
                  <a:srgbClr val="64748B"/>
                </a:solidFill>
                <a:latin typeface="Segoe UI"/>
              </a:rPr>
              <a:t>Upload, validation, export and reporting are production-shaped and tested. Nothing downstream of the export estimates a causal effect yet.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" y="641908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EconoCausal  ·  Project status review  ·  main branch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81183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06908"/>
            <a:ext cx="50292" cy="14173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02336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 spc="140">
                <a:solidFill>
                  <a:srgbClr val="0D9488"/>
                </a:solidFill>
                <a:latin typeface="Segoe UI"/>
              </a:rPr>
              <a:t>DELIVERED ·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700" b="1" i="0">
                <a:solidFill>
                  <a:srgbClr val="0B1220"/>
                </a:solidFill>
                <a:latin typeface="Segoe UI"/>
              </a:rPr>
              <a:t>16 tests, no CI, no API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25296"/>
            <a:ext cx="96679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Real automated coverage of the data utilities — with a gap where the web layer sits.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0765231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828800"/>
            <a:ext cx="553212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066543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 spc="100">
                <a:solidFill>
                  <a:srgbClr val="0B1220"/>
                </a:solidFill>
                <a:latin typeface="Segoe UI"/>
              </a:rPr>
              <a:t>TEST SUITE  ·  PYTHON -M UNITTEST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560320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334155"/>
                </a:solidFill>
                <a:latin typeface="Consolas"/>
              </a:rPr>
              <a:t>test_validate_upload.py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2596896"/>
            <a:ext cx="2377440" cy="164592"/>
          </a:xfrm>
          <a:prstGeom prst="roundRect">
            <a:avLst>
              <a:gd name="adj" fmla="val 4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023360" y="2596896"/>
            <a:ext cx="1698171" cy="164592"/>
          </a:xfrm>
          <a:prstGeom prst="roundRect">
            <a:avLst>
              <a:gd name="adj" fmla="val 4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256032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D9488"/>
                </a:solidFill>
                <a:latin typeface="Segoe U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054096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334155"/>
                </a:solidFill>
                <a:latin typeface="Consolas"/>
              </a:rPr>
              <a:t>test_export_product_month.py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3090672"/>
            <a:ext cx="2377440" cy="164592"/>
          </a:xfrm>
          <a:prstGeom prst="roundRect">
            <a:avLst>
              <a:gd name="adj" fmla="val 4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23360" y="3090672"/>
            <a:ext cx="1358537" cy="164592"/>
          </a:xfrm>
          <a:prstGeom prst="roundRect">
            <a:avLst>
              <a:gd name="adj" fmla="val 4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3054096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D9488"/>
                </a:solidFill>
                <a:latin typeface="Segoe U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547872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334155"/>
                </a:solidFill>
                <a:latin typeface="Consolas"/>
              </a:rPr>
              <a:t>test_validate_product_month_csv.py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3584448"/>
            <a:ext cx="2377440" cy="164592"/>
          </a:xfrm>
          <a:prstGeom prst="roundRect">
            <a:avLst>
              <a:gd name="adj" fmla="val 4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023360" y="3584448"/>
            <a:ext cx="2377440" cy="164592"/>
          </a:xfrm>
          <a:prstGeom prst="roundRect">
            <a:avLst>
              <a:gd name="adj" fmla="val 4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354787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D9488"/>
                </a:solidFill>
                <a:latin typeface="Segoe UI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3858768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B1220"/>
                </a:solidFill>
                <a:latin typeface="Segoe UI"/>
              </a:rPr>
              <a:t>16</a:t>
            </a:r>
            <a:r>
              <a:rPr sz="950" b="0">
                <a:solidFill>
                  <a:srgbClr val="64748B"/>
                </a:solidFill>
                <a:latin typeface="Segoe UI"/>
              </a:rPr>
              <a:t>  tests pass on synthetic fixtures — no real dataset is shipped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83096" y="1828800"/>
            <a:ext cx="4995367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2066543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 spc="100">
                <a:solidFill>
                  <a:srgbClr val="0B1220"/>
                </a:solidFill>
                <a:latin typeface="Segoe UI"/>
              </a:rPr>
              <a:t>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93992" y="2395728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334155"/>
                </a:solidFill>
                <a:latin typeface="Segoe UI"/>
              </a:rPr>
              <a:t>·  Required vs unexpected columns rejected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3992" y="267919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334155"/>
                </a:solidFill>
                <a:latin typeface="Segoe UI"/>
              </a:rPr>
              <a:t>·  Empty files, blank codes, bad YYYY-MM values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3992" y="2962656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334155"/>
                </a:solidFill>
                <a:latin typeface="Segoe UI"/>
              </a:rPr>
              <a:t>·  Negative prices, quantities and revenue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93992" y="3246120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334155"/>
                </a:solidFill>
                <a:latin typeface="Segoe UI"/>
              </a:rPr>
              <a:t>·  Non-integer transaction counts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93992" y="3529584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334155"/>
                </a:solidFill>
                <a:latin typeface="Segoe UI"/>
              </a:rPr>
              <a:t>·  Duplicate StockCode + Month keys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93992" y="3813048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334155"/>
                </a:solidFill>
                <a:latin typeface="Segoe UI"/>
              </a:rPr>
              <a:t>·  Non-zero exit code on failure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4553712"/>
            <a:ext cx="2554147" cy="1664208"/>
          </a:xfrm>
          <a:prstGeom prst="roundRect">
            <a:avLst>
              <a:gd name="adj" fmla="val 5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" y="4754880"/>
            <a:ext cx="209694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E123C"/>
                </a:solidFill>
                <a:latin typeface="Segoe UI"/>
              </a:rPr>
              <a:t>No API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" y="5029200"/>
            <a:ext cx="2096947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30" b="0" i="0">
                <a:solidFill>
                  <a:srgbClr val="334155"/>
                </a:solidFill>
                <a:latin typeface="Segoe UI"/>
              </a:rPr>
              <a:t>The five FastAPI routes have no request-level tests at all.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50259" y="4553712"/>
            <a:ext cx="2554147" cy="1664208"/>
          </a:xfrm>
          <a:prstGeom prst="roundRect">
            <a:avLst>
              <a:gd name="adj" fmla="val 5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88003" y="4754880"/>
            <a:ext cx="209694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E123C"/>
                </a:solidFill>
                <a:latin typeface="Segoe UI"/>
              </a:rPr>
              <a:t>No frontend tests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88003" y="5029200"/>
            <a:ext cx="2096947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30" b="0" i="0">
                <a:solidFill>
                  <a:srgbClr val="334155"/>
                </a:solidFill>
                <a:latin typeface="Segoe UI"/>
              </a:rPr>
              <a:t>oxlint is configured, but no component or interaction test exists.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87287" y="4553712"/>
            <a:ext cx="2554147" cy="1664208"/>
          </a:xfrm>
          <a:prstGeom prst="roundRect">
            <a:avLst>
              <a:gd name="adj" fmla="val 5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5031" y="4754880"/>
            <a:ext cx="209694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E123C"/>
                </a:solidFill>
                <a:latin typeface="Segoe UI"/>
              </a:rPr>
              <a:t>No CI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5031" y="5029200"/>
            <a:ext cx="2096947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30" b="0" i="0">
                <a:solidFill>
                  <a:srgbClr val="334155"/>
                </a:solidFill>
                <a:latin typeface="Segoe UI"/>
              </a:rPr>
              <a:t>No .github/workflows — the 16 tests only run when a developer remembers.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24315" y="4553712"/>
            <a:ext cx="2554147" cy="1664208"/>
          </a:xfrm>
          <a:prstGeom prst="roundRect">
            <a:avLst>
              <a:gd name="adj" fmla="val 5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059" y="4754880"/>
            <a:ext cx="209694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E123C"/>
                </a:solidFill>
                <a:latin typeface="Segoe UI"/>
              </a:rPr>
              <a:t>No pinned deps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62059" y="5029200"/>
            <a:ext cx="2096947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30" b="0" i="0">
                <a:solidFill>
                  <a:srgbClr val="334155"/>
                </a:solidFill>
                <a:latin typeface="Segoe UI"/>
              </a:rPr>
              <a:t>requirements.txt omits EconML, DoWhy, SciPy and scikit-learn.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641908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EconoCausal  ·  Project status review  ·  main branch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81183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47548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spc="160">
                <a:solidFill>
                  <a:srgbClr val="FBBF24"/>
                </a:solidFill>
                <a:latin typeface="Segoe UI"/>
              </a:rPr>
              <a:t>THE HONEST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49808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Why the centrepiece result is still missing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463040"/>
            <a:ext cx="5486400" cy="27432"/>
          </a:xfrm>
          <a:prstGeom prst="rect">
            <a:avLst/>
          </a:prstGeom>
          <a:solidFill>
            <a:srgbClr val="2A3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828800"/>
            <a:ext cx="640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BBF24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6464" y="1828800"/>
            <a:ext cx="5806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Online Retail has no randomised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2139696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30" b="0" i="0">
                <a:solidFill>
                  <a:srgbClr val="B6C3D4"/>
                </a:solidFill>
                <a:latin typeface="Segoe UI"/>
              </a:rPr>
              <a:t>Prices are historical and set by the retailer. Without a treatment assignment, a price–quantity relationship cannot be read as a causal effect.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035808"/>
            <a:ext cx="640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BBF24"/>
                </a:solidFill>
                <a:latin typeface="Segoe U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3035808"/>
            <a:ext cx="5806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Hillstrom randomises e-mail, not 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4" y="3346704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30" b="0" i="0">
                <a:solidFill>
                  <a:srgbClr val="B6C3D4"/>
                </a:solidFill>
                <a:latin typeface="Segoe UI"/>
              </a:rPr>
              <a:t>It can support a defensible e-mail uplift estimate. That is a different estimand from discount elasticity and must not be relabelled as 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4242816"/>
            <a:ext cx="640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BBF24"/>
                </a:solidFill>
                <a:latin typeface="Segoe U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4242816"/>
            <a:ext cx="5806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No treatment, outcome or covariate set is signed 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" y="4553712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30" b="0" i="0">
                <a:solidFill>
                  <a:srgbClr val="B6C3D4"/>
                </a:solidFill>
                <a:latin typeface="Segoe UI"/>
              </a:rPr>
              <a:t>Section A still owns those definitions. Until they arrive there is no DAG, no valid estimator and no defensible budget optimisation.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1828800"/>
            <a:ext cx="4114800" cy="3401568"/>
          </a:xfrm>
          <a:prstGeom prst="roundRect">
            <a:avLst>
              <a:gd name="adj" fmla="val 5000"/>
            </a:avLst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2084831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20">
                <a:solidFill>
                  <a:srgbClr val="5EEAD4"/>
                </a:solidFill>
                <a:latin typeface="Segoe UI"/>
              </a:rPr>
              <a:t>CONSEQUENCE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377440"/>
            <a:ext cx="3520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The dashboard is deliberately right to show “Not yet estimated”.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3419856"/>
            <a:ext cx="3520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00" b="0" i="0">
                <a:solidFill>
                  <a:srgbClr val="B6C3D4"/>
                </a:solidFill>
                <a:latin typeface="Segoe UI"/>
              </a:rPr>
              <a:t>Filling those cards with numbers before the identification argument exists would be the single most damaging thing this project could do — it is the first thing a reviewer will test.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4663440"/>
            <a:ext cx="3383280" cy="1097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4791456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Unblocked by: Section A definitions + a documented identification strategy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5742432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BBF24"/>
                </a:solidFill>
                <a:latin typeface="Segoe UI"/>
              </a:rPr>
              <a:t>Everything on the next three slides depends on resolving 01 – 03.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41908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C8CA6"/>
                </a:solidFill>
                <a:latin typeface="Segoe UI"/>
              </a:rPr>
              <a:t>EconoCausal  ·  Project status review  ·  main branch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81183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7C8CA6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06908"/>
            <a:ext cx="50292" cy="14173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02336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 spc="140">
                <a:solidFill>
                  <a:srgbClr val="0D9488"/>
                </a:solidFill>
                <a:latin typeface="Segoe UI"/>
              </a:rPr>
              <a:t>REMAINING WORK ·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700" b="1" i="0">
                <a:solidFill>
                  <a:srgbClr val="0B1220"/>
                </a:solidFill>
                <a:latin typeface="Segoe UI"/>
              </a:rPr>
              <a:t>Twelve requirements, re-scored against 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25296"/>
            <a:ext cx="96679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The checklist flags itself as out of date; this is what the code supports today.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0765231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828800"/>
            <a:ext cx="5108295" cy="54864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2039112"/>
            <a:ext cx="128016" cy="12801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02536"/>
            <a:ext cx="32794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4A3B8"/>
                </a:solidFill>
                <a:latin typeface="Segoe UI"/>
              </a:rPr>
              <a:t>01</a:t>
            </a:r>
            <a:r>
              <a:rPr sz="1080" b="0">
                <a:solidFill>
                  <a:srgbClr val="0B1220"/>
                </a:solidFill>
                <a:latin typeface="Segoe UI"/>
              </a:rPr>
              <a:t>   Select and document the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9655" y="2002536"/>
            <a:ext cx="10607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80" b="1" i="0">
                <a:solidFill>
                  <a:srgbClr val="0D9488"/>
                </a:solidFill>
                <a:latin typeface="Segoe UI"/>
              </a:rPr>
              <a:t>Complete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487168"/>
            <a:ext cx="5108295" cy="54864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2697479"/>
            <a:ext cx="128016" cy="12801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660903"/>
            <a:ext cx="32794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4A3B8"/>
                </a:solidFill>
                <a:latin typeface="Segoe UI"/>
              </a:rPr>
              <a:t>02</a:t>
            </a:r>
            <a:r>
              <a:rPr sz="1080" b="0">
                <a:solidFill>
                  <a:srgbClr val="0B1220"/>
                </a:solidFill>
                <a:latin typeface="Segoe UI"/>
              </a:rPr>
              <a:t>   Validate and clean the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9655" y="2660903"/>
            <a:ext cx="10607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80" b="1" i="0">
                <a:solidFill>
                  <a:srgbClr val="0D9488"/>
                </a:solidFill>
                <a:latin typeface="Segoe UI"/>
              </a:rPr>
              <a:t>Complete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145536"/>
            <a:ext cx="5108295" cy="54864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2688" y="3355848"/>
            <a:ext cx="128016" cy="128016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319272"/>
            <a:ext cx="32794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4A3B8"/>
                </a:solidFill>
                <a:latin typeface="Segoe UI"/>
              </a:rPr>
              <a:t>03</a:t>
            </a:r>
            <a:r>
              <a:rPr sz="1080" b="0">
                <a:solidFill>
                  <a:srgbClr val="0B1220"/>
                </a:solidFill>
                <a:latin typeface="Segoe UI"/>
              </a:rPr>
              <a:t>   Exploratory data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9655" y="3319272"/>
            <a:ext cx="10607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80" b="1" i="0">
                <a:solidFill>
                  <a:srgbClr val="B45309"/>
                </a:solidFill>
                <a:latin typeface="Segoe UI"/>
              </a:rPr>
              <a:t>Partial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803904"/>
            <a:ext cx="5108295" cy="548640"/>
          </a:xfrm>
          <a:prstGeom prst="roundRect">
            <a:avLst>
              <a:gd name="adj" fmla="val 5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4014216"/>
            <a:ext cx="128016" cy="128016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3977640"/>
            <a:ext cx="32794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4A3B8"/>
                </a:solidFill>
                <a:latin typeface="Segoe UI"/>
              </a:rPr>
              <a:t>04</a:t>
            </a:r>
            <a:r>
              <a:rPr sz="1080" b="0">
                <a:solidFill>
                  <a:srgbClr val="0B1220"/>
                </a:solidFill>
                <a:latin typeface="Segoe UI"/>
              </a:rPr>
              <a:t>   Define treatment, outcome, covariates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9655" y="3977640"/>
            <a:ext cx="10607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80" b="1" i="0">
                <a:solidFill>
                  <a:srgbClr val="BE123C"/>
                </a:solidFill>
                <a:latin typeface="Segoe UI"/>
              </a:rPr>
              <a:t>Not started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4462272"/>
            <a:ext cx="5108295" cy="548640"/>
          </a:xfrm>
          <a:prstGeom prst="roundRect">
            <a:avLst>
              <a:gd name="adj" fmla="val 5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672584"/>
            <a:ext cx="128016" cy="128016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636008"/>
            <a:ext cx="32794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4A3B8"/>
                </a:solidFill>
                <a:latin typeface="Segoe UI"/>
              </a:rPr>
              <a:t>05</a:t>
            </a:r>
            <a:r>
              <a:rPr sz="1080" b="0">
                <a:solidFill>
                  <a:srgbClr val="0B1220"/>
                </a:solidFill>
                <a:latin typeface="Segoe UI"/>
              </a:rPr>
              <a:t>   Create a causal DAG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9655" y="4636008"/>
            <a:ext cx="10607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80" b="1" i="0">
                <a:solidFill>
                  <a:srgbClr val="BE123C"/>
                </a:solidFill>
                <a:latin typeface="Segoe UI"/>
              </a:rPr>
              <a:t>Not started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5120640"/>
            <a:ext cx="5108295" cy="548640"/>
          </a:xfrm>
          <a:prstGeom prst="roundRect">
            <a:avLst>
              <a:gd name="adj" fmla="val 5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32688" y="5330952"/>
            <a:ext cx="128016" cy="128016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294376"/>
            <a:ext cx="32794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4A3B8"/>
                </a:solidFill>
                <a:latin typeface="Segoe UI"/>
              </a:rPr>
              <a:t>06</a:t>
            </a:r>
            <a:r>
              <a:rPr sz="1080" b="0">
                <a:solidFill>
                  <a:srgbClr val="0B1220"/>
                </a:solidFill>
                <a:latin typeface="Segoe UI"/>
              </a:rPr>
              <a:t>   Implement DML with EconML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9655" y="5294376"/>
            <a:ext cx="10607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80" b="1" i="0">
                <a:solidFill>
                  <a:srgbClr val="BE123C"/>
                </a:solidFill>
                <a:latin typeface="Segoe UI"/>
              </a:rPr>
              <a:t>Not started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70167" y="1828800"/>
            <a:ext cx="5108295" cy="548640"/>
          </a:xfrm>
          <a:prstGeom prst="roundRect">
            <a:avLst>
              <a:gd name="adj" fmla="val 5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589623" y="2039112"/>
            <a:ext cx="128016" cy="128016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45655" y="2002536"/>
            <a:ext cx="32794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4A3B8"/>
                </a:solidFill>
                <a:latin typeface="Segoe UI"/>
              </a:rPr>
              <a:t>07</a:t>
            </a:r>
            <a:r>
              <a:rPr sz="1080" b="0">
                <a:solidFill>
                  <a:srgbClr val="0B1220"/>
                </a:solidFill>
                <a:latin typeface="Segoe UI"/>
              </a:rPr>
              <a:t>   Validate assumptions with DoWhy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16591" y="2002536"/>
            <a:ext cx="10607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80" b="1" i="0">
                <a:solidFill>
                  <a:srgbClr val="BE123C"/>
                </a:solidFill>
                <a:latin typeface="Segoe UI"/>
              </a:rPr>
              <a:t>Not started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70167" y="2487168"/>
            <a:ext cx="5108295" cy="548640"/>
          </a:xfrm>
          <a:prstGeom prst="roundRect">
            <a:avLst>
              <a:gd name="adj" fmla="val 5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589623" y="2697479"/>
            <a:ext cx="128016" cy="128016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45655" y="2660903"/>
            <a:ext cx="32794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4A3B8"/>
                </a:solidFill>
                <a:latin typeface="Segoe UI"/>
              </a:rPr>
              <a:t>08</a:t>
            </a:r>
            <a:r>
              <a:rPr sz="1080" b="0">
                <a:solidFill>
                  <a:srgbClr val="0B1220"/>
                </a:solidFill>
                <a:latin typeface="Segoe UI"/>
              </a:rPr>
              <a:t>   Optimise budget with SciPy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16591" y="2660903"/>
            <a:ext cx="10607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80" b="1" i="0">
                <a:solidFill>
                  <a:srgbClr val="BE123C"/>
                </a:solidFill>
                <a:latin typeface="Segoe UI"/>
              </a:rPr>
              <a:t>Not started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70167" y="3145536"/>
            <a:ext cx="5108295" cy="54864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89623" y="3355848"/>
            <a:ext cx="128016" cy="128016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45655" y="3319272"/>
            <a:ext cx="32794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4A3B8"/>
                </a:solidFill>
                <a:latin typeface="Segoe UI"/>
              </a:rPr>
              <a:t>09</a:t>
            </a:r>
            <a:r>
              <a:rPr sz="1080" b="0">
                <a:solidFill>
                  <a:srgbClr val="0B1220"/>
                </a:solidFill>
                <a:latin typeface="Segoe UI"/>
              </a:rPr>
              <a:t>   FastAPI backend endpoints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16591" y="3319272"/>
            <a:ext cx="10607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80" b="1" i="0">
                <a:solidFill>
                  <a:srgbClr val="B45309"/>
                </a:solidFill>
                <a:latin typeface="Segoe UI"/>
              </a:rPr>
              <a:t>Partial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70167" y="3803904"/>
            <a:ext cx="5108295" cy="54864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589623" y="4014216"/>
            <a:ext cx="128016" cy="128016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45655" y="3977640"/>
            <a:ext cx="32794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4A3B8"/>
                </a:solidFill>
                <a:latin typeface="Segoe UI"/>
              </a:rPr>
              <a:t>10</a:t>
            </a:r>
            <a:r>
              <a:rPr sz="1080" b="0">
                <a:solidFill>
                  <a:srgbClr val="0B1220"/>
                </a:solidFill>
                <a:latin typeface="Segoe UI"/>
              </a:rPr>
              <a:t>   React dashboard with Plotly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16591" y="3977640"/>
            <a:ext cx="10607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80" b="1" i="0">
                <a:solidFill>
                  <a:srgbClr val="B45309"/>
                </a:solidFill>
                <a:latin typeface="Segoe UI"/>
              </a:rPr>
              <a:t>Partial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70167" y="4462272"/>
            <a:ext cx="5108295" cy="54864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589623" y="4672584"/>
            <a:ext cx="128016" cy="128016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45655" y="4636008"/>
            <a:ext cx="32794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4A3B8"/>
                </a:solidFill>
                <a:latin typeface="Segoe UI"/>
              </a:rPr>
              <a:t>11</a:t>
            </a:r>
            <a:r>
              <a:rPr sz="1080" b="0">
                <a:solidFill>
                  <a:srgbClr val="0B1220"/>
                </a:solidFill>
                <a:latin typeface="Segoe UI"/>
              </a:rPr>
              <a:t>   Tests and reproducibility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16591" y="4636008"/>
            <a:ext cx="10607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80" b="1" i="0">
                <a:solidFill>
                  <a:srgbClr val="B45309"/>
                </a:solidFill>
                <a:latin typeface="Segoe UI"/>
              </a:rPr>
              <a:t>Partial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70167" y="5120640"/>
            <a:ext cx="5108295" cy="548640"/>
          </a:xfrm>
          <a:prstGeom prst="roundRect">
            <a:avLst>
              <a:gd name="adj" fmla="val 5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589623" y="5330952"/>
            <a:ext cx="128016" cy="128016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45655" y="5294376"/>
            <a:ext cx="32794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4A3B8"/>
                </a:solidFill>
                <a:latin typeface="Segoe UI"/>
              </a:rPr>
              <a:t>12</a:t>
            </a:r>
            <a:r>
              <a:rPr sz="1080" b="0">
                <a:solidFill>
                  <a:srgbClr val="0B1220"/>
                </a:solidFill>
                <a:latin typeface="Segoe UI"/>
              </a:rPr>
              <a:t>   Final report and project demo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16591" y="5294376"/>
            <a:ext cx="10607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80" b="1" i="0">
                <a:solidFill>
                  <a:srgbClr val="BE123C"/>
                </a:solidFill>
                <a:latin typeface="Segoe UI"/>
              </a:rPr>
              <a:t>Not started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" y="5980176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B1220"/>
                </a:solidFill>
                <a:latin typeface="Segoe UI"/>
              </a:rPr>
              <a:t>Bottom line:  </a:t>
            </a:r>
            <a:r>
              <a:rPr sz="1050" b="0">
                <a:solidFill>
                  <a:srgbClr val="64748B"/>
                </a:solidFill>
                <a:latin typeface="Segoe UI"/>
              </a:rPr>
              <a:t>the project has built a credible data and delivery layer. The four requirements that give it its name — DAG, DML, refutation, optimisation — are all still untouched.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" y="641908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EconoCausal  ·  Project status review  ·  main branch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81183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06908"/>
            <a:ext cx="50292" cy="14173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02336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 spc="140">
                <a:solidFill>
                  <a:srgbClr val="0D9488"/>
                </a:solidFill>
                <a:latin typeface="Segoe UI"/>
              </a:rPr>
              <a:t>REMAINING WORK · TRACK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700" b="1" i="0">
                <a:solidFill>
                  <a:srgbClr val="0B1220"/>
                </a:solidFill>
                <a:latin typeface="Segoe UI"/>
              </a:rPr>
              <a:t>Causal core — five tasks, strictly ordered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25296"/>
            <a:ext cx="96679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Each task is a gate: the next one cannot start honestly until the previous one is signed off.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0765231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828800"/>
            <a:ext cx="2139696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828800"/>
            <a:ext cx="2139696" cy="4572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66543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 spc="100">
                <a:solidFill>
                  <a:srgbClr val="BE123C"/>
                </a:solidFill>
                <a:latin typeface="Segoe UI"/>
              </a:rPr>
              <a:t>C1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40864"/>
            <a:ext cx="17190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B1220"/>
                </a:solidFill>
                <a:latin typeface="Segoe UI"/>
              </a:rPr>
              <a:t>Freeze Section A definitions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962656"/>
            <a:ext cx="170078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64748B"/>
                </a:solidFill>
                <a:latin typeface="Segoe UI"/>
              </a:rPr>
              <a:t>Treatment, outcome, covariates, estimand and unit of analysis, written into docs/.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602736"/>
            <a:ext cx="17190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 spc="90">
                <a:solidFill>
                  <a:srgbClr val="94A3B8"/>
                </a:solidFill>
                <a:latin typeface="Segoe UI"/>
              </a:rPr>
              <a:t>EFFORT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767328"/>
            <a:ext cx="17190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B1220"/>
                </a:solidFill>
                <a:latin typeface="Segoe UI"/>
              </a:rPr>
              <a:t>2–3 days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4023360"/>
            <a:ext cx="1700784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114800"/>
            <a:ext cx="17190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 spc="90">
                <a:solidFill>
                  <a:srgbClr val="94A3B8"/>
                </a:solidFill>
                <a:latin typeface="Segoe UI"/>
              </a:rPr>
              <a:t>DEPENDS 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279392"/>
            <a:ext cx="17190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334155"/>
                </a:solidFill>
                <a:latin typeface="Segoe UI"/>
              </a:rPr>
              <a:t>Blocker for C2 – C5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535424"/>
            <a:ext cx="17190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19" b="0" i="0">
                <a:solidFill>
                  <a:srgbClr val="0D9488"/>
                </a:solidFill>
                <a:latin typeface="Segoe UI"/>
              </a:rPr>
              <a:t>Done when: Signed definitions doc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99232" y="1828800"/>
            <a:ext cx="2139696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99232" y="1828800"/>
            <a:ext cx="2139696" cy="457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18688" y="2066543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 spc="100">
                <a:solidFill>
                  <a:srgbClr val="B45309"/>
                </a:solidFill>
                <a:latin typeface="Segoe UI"/>
              </a:rPr>
              <a:t>C2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18688" y="2340864"/>
            <a:ext cx="17190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B1220"/>
                </a:solidFill>
                <a:latin typeface="Segoe UI"/>
              </a:rPr>
              <a:t>Build the analysis table and DAG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18688" y="2962656"/>
            <a:ext cx="170078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64748B"/>
                </a:solidFill>
                <a:latin typeface="Segoe UI"/>
              </a:rPr>
              <a:t>Product-month or customer-level panel, plus a committed DAG (dagitty / DoWhy graph).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18688" y="3602736"/>
            <a:ext cx="17190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 spc="90">
                <a:solidFill>
                  <a:srgbClr val="94A3B8"/>
                </a:solidFill>
                <a:latin typeface="Segoe UI"/>
              </a:rPr>
              <a:t>EFFORT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18688" y="3767328"/>
            <a:ext cx="17190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B1220"/>
                </a:solidFill>
                <a:latin typeface="Segoe UI"/>
              </a:rPr>
              <a:t>1 week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18688" y="4023360"/>
            <a:ext cx="1700784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18688" y="4114800"/>
            <a:ext cx="17190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 spc="90">
                <a:solidFill>
                  <a:srgbClr val="94A3B8"/>
                </a:solidFill>
                <a:latin typeface="Segoe UI"/>
              </a:rPr>
              <a:t>DEPENDS 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18688" y="4279392"/>
            <a:ext cx="17190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334155"/>
                </a:solidFill>
                <a:latin typeface="Segoe UI"/>
              </a:rPr>
              <a:t>Needs C1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18688" y="4535424"/>
            <a:ext cx="17190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19" b="0" i="0">
                <a:solidFill>
                  <a:srgbClr val="0D9488"/>
                </a:solidFill>
                <a:latin typeface="Segoe UI"/>
              </a:rPr>
              <a:t>Done when: Reproducible build script + DAG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85232" y="1828800"/>
            <a:ext cx="2139696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85232" y="1828800"/>
            <a:ext cx="2139696" cy="457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04688" y="2066543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 spc="100">
                <a:solidFill>
                  <a:srgbClr val="B45309"/>
                </a:solidFill>
                <a:latin typeface="Segoe UI"/>
              </a:rPr>
              <a:t>C3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04688" y="2340864"/>
            <a:ext cx="17190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B1220"/>
                </a:solidFill>
                <a:latin typeface="Segoe UI"/>
              </a:rPr>
              <a:t>Estimate with EconML DML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04688" y="2962656"/>
            <a:ext cx="170078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64748B"/>
                </a:solidFill>
                <a:latin typeface="Segoe UI"/>
              </a:rPr>
              <a:t>LinearDML or CausalForestDML, cross-fitting, cluster-robust intervals, overlap checks.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04688" y="3602736"/>
            <a:ext cx="17190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 spc="90">
                <a:solidFill>
                  <a:srgbClr val="94A3B8"/>
                </a:solidFill>
                <a:latin typeface="Segoe UI"/>
              </a:rPr>
              <a:t>EFFORT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04688" y="3767328"/>
            <a:ext cx="17190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B1220"/>
                </a:solidFill>
                <a:latin typeface="Segoe UI"/>
              </a:rPr>
              <a:t>1 week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04688" y="4023360"/>
            <a:ext cx="1700784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04688" y="4114800"/>
            <a:ext cx="17190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 spc="90">
                <a:solidFill>
                  <a:srgbClr val="94A3B8"/>
                </a:solidFill>
                <a:latin typeface="Segoe UI"/>
              </a:rPr>
              <a:t>DEPENDS 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04688" y="4279392"/>
            <a:ext cx="17190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334155"/>
                </a:solidFill>
                <a:latin typeface="Segoe UI"/>
              </a:rPr>
              <a:t>Needs C1, C2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04688" y="4535424"/>
            <a:ext cx="17190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19" b="0" i="0">
                <a:solidFill>
                  <a:srgbClr val="0D9488"/>
                </a:solidFill>
                <a:latin typeface="Segoe UI"/>
              </a:rPr>
              <a:t>Done when: ATE + CI + overlap report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71231" y="1828800"/>
            <a:ext cx="2139696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571231" y="1828800"/>
            <a:ext cx="2139696" cy="457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90688" y="2066543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 spc="100">
                <a:solidFill>
                  <a:srgbClr val="B45309"/>
                </a:solidFill>
                <a:latin typeface="Segoe UI"/>
              </a:rPr>
              <a:t>C4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90688" y="2340864"/>
            <a:ext cx="17190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B1220"/>
                </a:solidFill>
                <a:latin typeface="Segoe UI"/>
              </a:rPr>
              <a:t>Refute with DoWhy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90688" y="2962656"/>
            <a:ext cx="170078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64748B"/>
                </a:solidFill>
                <a:latin typeface="Segoe UI"/>
              </a:rPr>
              <a:t>Placebo treatment, random common cause, data subset and sensitivity analysis.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90688" y="3602736"/>
            <a:ext cx="17190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 spc="90">
                <a:solidFill>
                  <a:srgbClr val="94A3B8"/>
                </a:solidFill>
                <a:latin typeface="Segoe UI"/>
              </a:rPr>
              <a:t>EFFORT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90688" y="3767328"/>
            <a:ext cx="17190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B1220"/>
                </a:solidFill>
                <a:latin typeface="Segoe UI"/>
              </a:rPr>
              <a:t>3–4 days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90688" y="4023360"/>
            <a:ext cx="1700784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90688" y="4114800"/>
            <a:ext cx="17190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 spc="90">
                <a:solidFill>
                  <a:srgbClr val="94A3B8"/>
                </a:solidFill>
                <a:latin typeface="Segoe UI"/>
              </a:rPr>
              <a:t>DEPENDS 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90688" y="4279392"/>
            <a:ext cx="17190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334155"/>
                </a:solidFill>
                <a:latin typeface="Segoe UI"/>
              </a:rPr>
              <a:t>Needs C3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90688" y="4535424"/>
            <a:ext cx="17190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19" b="0" i="0">
                <a:solidFill>
                  <a:srgbClr val="0D9488"/>
                </a:solidFill>
                <a:latin typeface="Segoe UI"/>
              </a:rPr>
              <a:t>Done when: Refutation table in the report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857232" y="1828800"/>
            <a:ext cx="2139696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857232" y="1828800"/>
            <a:ext cx="2139696" cy="4572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076688" y="2066543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 spc="100">
                <a:solidFill>
                  <a:srgbClr val="BE123C"/>
                </a:solidFill>
                <a:latin typeface="Segoe UI"/>
              </a:rPr>
              <a:t>C5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76688" y="2340864"/>
            <a:ext cx="17190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B1220"/>
                </a:solidFill>
                <a:latin typeface="Segoe UI"/>
              </a:rPr>
              <a:t>Allocate budget with SciPy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76688" y="2962656"/>
            <a:ext cx="170078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64748B"/>
                </a:solidFill>
                <a:latin typeface="Segoe UI"/>
              </a:rPr>
              <a:t>Optimise spend from estimated responses; label every output as a simulation.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76688" y="3602736"/>
            <a:ext cx="17190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 spc="90">
                <a:solidFill>
                  <a:srgbClr val="94A3B8"/>
                </a:solidFill>
                <a:latin typeface="Segoe UI"/>
              </a:rPr>
              <a:t>EFFORT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76688" y="3767328"/>
            <a:ext cx="17190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B1220"/>
                </a:solidFill>
                <a:latin typeface="Segoe UI"/>
              </a:rPr>
              <a:t>4–5 days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076688" y="4023360"/>
            <a:ext cx="1700784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76688" y="4114800"/>
            <a:ext cx="17190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 spc="90">
                <a:solidFill>
                  <a:srgbClr val="94A3B8"/>
                </a:solidFill>
                <a:latin typeface="Segoe UI"/>
              </a:rPr>
              <a:t>DEPENDS 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76688" y="4279392"/>
            <a:ext cx="17190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334155"/>
                </a:solidFill>
                <a:latin typeface="Segoe UI"/>
              </a:rPr>
              <a:t>Needs C3, C4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76688" y="4535424"/>
            <a:ext cx="17190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19" b="0" i="0">
                <a:solidFill>
                  <a:srgbClr val="0D9488"/>
                </a:solidFill>
                <a:latin typeface="Segoe UI"/>
              </a:rPr>
              <a:t>Done when: Scenario + stated assumptions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13232" y="5120640"/>
            <a:ext cx="10765231" cy="93268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24128" y="5321807"/>
            <a:ext cx="1012515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30" b="1">
                <a:solidFill>
                  <a:srgbClr val="0B1220"/>
                </a:solidFill>
                <a:latin typeface="Segoe UI"/>
              </a:rPr>
              <a:t>Sizing:  </a:t>
            </a:r>
            <a:r>
              <a:rPr sz="1030" b="0">
                <a:solidFill>
                  <a:srgbClr val="334155"/>
                </a:solidFill>
                <a:latin typeface="Segoe UI"/>
              </a:rPr>
              <a:t>C1 is days, not weeks — but it belongs to Section A and is the reason this track has not started. C3 and C4 are the two tasks that turn this from a data dashboard into a causal study; budget roughly one week each with a clean analysis table.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3232" y="641908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EconoCausal  ·  Project status review  ·  main branch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381183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06908"/>
            <a:ext cx="50292" cy="14173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02336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 spc="140">
                <a:solidFill>
                  <a:srgbClr val="0D9488"/>
                </a:solidFill>
                <a:latin typeface="Segoe UI"/>
              </a:rPr>
              <a:t>REMAINING WORK · TRACK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700" b="1" i="0">
                <a:solidFill>
                  <a:srgbClr val="0B1220"/>
                </a:solidFill>
                <a:latin typeface="Segoe UI"/>
              </a:rPr>
              <a:t>Product and platform — six fixes, none blocked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25296"/>
            <a:ext cx="96679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This track can start today while Section A finishes its definitions.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0765231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828800"/>
            <a:ext cx="5504688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011680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 spc="90">
                <a:solidFill>
                  <a:srgbClr val="0D9488"/>
                </a:solidFill>
                <a:latin typeface="Segoe UI"/>
              </a:rPr>
              <a:t>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6464" y="1993392"/>
            <a:ext cx="358444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B1220"/>
                </a:solidFill>
                <a:latin typeface="Segoe UI"/>
              </a:rPr>
              <a:t>Wire product-month CSV end to 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2340864"/>
            <a:ext cx="45445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30" b="0" i="0">
                <a:solidFill>
                  <a:srgbClr val="64748B"/>
                </a:solidFill>
                <a:latin typeface="Segoe UI"/>
              </a:rPr>
              <a:t>Export and validator exist, but the dashboard never loads product_month_summary.csv.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2002536"/>
            <a:ext cx="859536" cy="23774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40" b="1">
                <a:solidFill>
                  <a:srgbClr val="0D9488"/>
                </a:solidFill>
                <a:latin typeface="Segoe UI"/>
              </a:rPr>
              <a:t>Unblocked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73952" y="1828800"/>
            <a:ext cx="5504688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11696" y="2011680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 spc="90">
                <a:solidFill>
                  <a:srgbClr val="0D9488"/>
                </a:solidFill>
                <a:latin typeface="Segoe UI"/>
              </a:rPr>
              <a:t>P2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87184" y="1993392"/>
            <a:ext cx="358444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B1220"/>
                </a:solidFill>
                <a:latin typeface="Segoe UI"/>
              </a:rPr>
              <a:t>Replace dashboard placeholders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184" y="2340864"/>
            <a:ext cx="45445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30" b="0" i="0">
                <a:solidFill>
                  <a:srgbClr val="64748B"/>
                </a:solidFill>
                <a:latin typeface="Segoe UI"/>
              </a:rPr>
              <a:t>Four panels still say “will appear here”. Needs real EDA charts and the ATE cards.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881360" y="2002536"/>
            <a:ext cx="859536" cy="23774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40" b="1">
                <a:solidFill>
                  <a:srgbClr val="0D9488"/>
                </a:solidFill>
                <a:latin typeface="Segoe UI"/>
              </a:rPr>
              <a:t>Unblocked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328415"/>
            <a:ext cx="5504688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3511296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 spc="90">
                <a:solidFill>
                  <a:srgbClr val="0D9488"/>
                </a:solidFill>
                <a:latin typeface="Segoe UI"/>
              </a:rPr>
              <a:t>P3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6464" y="3493008"/>
            <a:ext cx="358444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B1220"/>
                </a:solidFill>
                <a:latin typeface="Segoe UI"/>
              </a:rPr>
              <a:t>Fix wiring defects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3840479"/>
            <a:ext cx="45445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30" b="0" i="0">
                <a:solidFill>
                  <a:srgbClr val="64748B"/>
                </a:solidFill>
                <a:latin typeface="Segoe UI"/>
              </a:rPr>
              <a:t>Duplicate section id, report endpoint on port 8001 while the rest use 8000, EDACharts rendered without props.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3502151"/>
            <a:ext cx="859536" cy="23774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40" b="1">
                <a:solidFill>
                  <a:srgbClr val="0D9488"/>
                </a:solidFill>
                <a:latin typeface="Segoe UI"/>
              </a:rPr>
              <a:t>Unblocked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73952" y="3328415"/>
            <a:ext cx="5504688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3511296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 spc="90">
                <a:solidFill>
                  <a:srgbClr val="0D9488"/>
                </a:solidFill>
                <a:latin typeface="Segoe UI"/>
              </a:rPr>
              <a:t>P4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7184" y="3493008"/>
            <a:ext cx="358444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B1220"/>
                </a:solidFill>
                <a:latin typeface="Segoe UI"/>
              </a:rPr>
              <a:t>Restore reproducibility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87184" y="3840479"/>
            <a:ext cx="45445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30" b="0" i="0">
                <a:solidFill>
                  <a:srgbClr val="64748B"/>
                </a:solidFill>
                <a:latin typeface="Segoe UI"/>
              </a:rPr>
              <a:t>data/ is git-ignored, so notebooks cannot run from a fresh clone. Add a fetch script or sample fixtures.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881360" y="3502151"/>
            <a:ext cx="859536" cy="23774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40" b="1">
                <a:solidFill>
                  <a:srgbClr val="0D9488"/>
                </a:solidFill>
                <a:latin typeface="Segoe UI"/>
              </a:rPr>
              <a:t>Unblocked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828031"/>
            <a:ext cx="5504688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50109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 spc="90">
                <a:solidFill>
                  <a:srgbClr val="0D9488"/>
                </a:solidFill>
                <a:latin typeface="Segoe UI"/>
              </a:rPr>
              <a:t>P5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26464" y="4992623"/>
            <a:ext cx="358444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B1220"/>
                </a:solidFill>
                <a:latin typeface="Segoe UI"/>
              </a:rPr>
              <a:t>Repository hygiene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26464" y="5340096"/>
            <a:ext cx="45445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30" b="0" i="0">
                <a:solidFill>
                  <a:srgbClr val="64748B"/>
                </a:solidFill>
                <a:latin typeface="Segoe UI"/>
              </a:rPr>
              <a:t>Two .pyc files are tracked, and README.md holds Day-6 notes instead of a project overview.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0640" y="5001768"/>
            <a:ext cx="859536" cy="23774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40" b="1">
                <a:solidFill>
                  <a:srgbClr val="0D9488"/>
                </a:solidFill>
                <a:latin typeface="Segoe UI"/>
              </a:rPr>
              <a:t>Unblocked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73952" y="4828031"/>
            <a:ext cx="5504688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11696" y="50109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 spc="90">
                <a:solidFill>
                  <a:srgbClr val="0D9488"/>
                </a:solidFill>
                <a:latin typeface="Segoe UI"/>
              </a:rPr>
              <a:t>P6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87184" y="4992623"/>
            <a:ext cx="358444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B1220"/>
                </a:solidFill>
                <a:latin typeface="Segoe UI"/>
              </a:rPr>
              <a:t>Add CI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87184" y="5340096"/>
            <a:ext cx="45445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30" b="0" i="0">
                <a:solidFill>
                  <a:srgbClr val="64748B"/>
                </a:solidFill>
                <a:latin typeface="Segoe UI"/>
              </a:rPr>
              <a:t>GitHub Actions running the 16 tests plus oxlint on every pull request.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881360" y="5001768"/>
            <a:ext cx="859536" cy="23774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40" b="1">
                <a:solidFill>
                  <a:srgbClr val="0D9488"/>
                </a:solidFill>
                <a:latin typeface="Segoe UI"/>
              </a:rPr>
              <a:t>Unblocked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641908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EconoCausal  ·  Project status review  ·  main branch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81183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06908"/>
            <a:ext cx="50292" cy="14173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02336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 spc="140">
                <a:solidFill>
                  <a:srgbClr val="0D9488"/>
                </a:solidFill>
                <a:latin typeface="Segoe UI"/>
              </a:rPr>
              <a:t>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700" b="1" i="0">
                <a:solidFill>
                  <a:srgbClr val="0B1220"/>
                </a:solidFill>
                <a:latin typeface="Segoe UI"/>
              </a:rPr>
              <a:t>Four phases to a defensible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25296"/>
            <a:ext cx="96679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Sequenced so that visible progress never outruns the identification argument.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0765231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2139696"/>
            <a:ext cx="10308031" cy="12801"/>
          </a:xfrm>
          <a:prstGeom prst="rect">
            <a:avLst/>
          </a:prstGeom>
          <a:solidFill>
            <a:srgbClr val="D8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84832"/>
            <a:ext cx="128016" cy="12801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2468880"/>
            <a:ext cx="2688336" cy="29626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67004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10">
                <a:solidFill>
                  <a:srgbClr val="0D9488"/>
                </a:solidFill>
                <a:latin typeface="Segoe UI"/>
              </a:rPr>
              <a:t>PHASE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907791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0B1220"/>
                </a:solidFill>
                <a:latin typeface="Segoe UI"/>
              </a:rPr>
              <a:t>Unblock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236976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Week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547872"/>
            <a:ext cx="22494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19" b="0" i="0">
                <a:solidFill>
                  <a:srgbClr val="334155"/>
                </a:solidFill>
                <a:latin typeface="Segoe UI"/>
              </a:rPr>
              <a:t>·  C1 definitions signed 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913632"/>
            <a:ext cx="22494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19" b="0" i="0">
                <a:solidFill>
                  <a:srgbClr val="334155"/>
                </a:solidFill>
                <a:latin typeface="Segoe UI"/>
              </a:rPr>
              <a:t>·  P3 defects fixed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4279392"/>
            <a:ext cx="22494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19" b="0" i="0">
                <a:solidFill>
                  <a:srgbClr val="334155"/>
                </a:solidFill>
                <a:latin typeface="Segoe UI"/>
              </a:rPr>
              <a:t>·  P4–P5 hygiene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6" y="4882896"/>
            <a:ext cx="2212848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4974336"/>
            <a:ext cx="2231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40" b="1" i="0">
                <a:solidFill>
                  <a:srgbClr val="0D9488"/>
                </a:solidFill>
                <a:latin typeface="Segoe UI"/>
              </a:rPr>
              <a:t>Gate: DAG + data contract agreed</a:t>
            </a:r>
          </a:p>
        </p:txBody>
      </p:sp>
      <p:sp>
        <p:nvSpPr>
          <p:cNvPr id="18" name="Oval 17"/>
          <p:cNvSpPr/>
          <p:nvPr/>
        </p:nvSpPr>
        <p:spPr>
          <a:xfrm>
            <a:off x="3730752" y="2084832"/>
            <a:ext cx="128016" cy="128016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84448" y="2468880"/>
            <a:ext cx="2688336" cy="29626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22191" y="267004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10">
                <a:solidFill>
                  <a:srgbClr val="B45309"/>
                </a:solidFill>
                <a:latin typeface="Segoe UI"/>
              </a:rPr>
              <a:t>PHASE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22191" y="2907791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0B1220"/>
                </a:solidFill>
                <a:latin typeface="Segoe UI"/>
              </a:rPr>
              <a:t>Estimate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22191" y="3236976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Weeks 1–2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22191" y="3547872"/>
            <a:ext cx="22494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19" b="0" i="0">
                <a:solidFill>
                  <a:srgbClr val="334155"/>
                </a:solidFill>
                <a:latin typeface="Segoe UI"/>
              </a:rPr>
              <a:t>·  C2 analysis table + DAG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22191" y="3913632"/>
            <a:ext cx="22494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19" b="0" i="0">
                <a:solidFill>
                  <a:srgbClr val="334155"/>
                </a:solidFill>
                <a:latin typeface="Segoe UI"/>
              </a:rPr>
              <a:t>·  C3 DML with intervals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22191" y="4279392"/>
            <a:ext cx="22494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19" b="0" i="0">
                <a:solidFill>
                  <a:srgbClr val="334155"/>
                </a:solidFill>
                <a:latin typeface="Segoe UI"/>
              </a:rPr>
              <a:t>·  C4 refutation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22191" y="4882896"/>
            <a:ext cx="2212848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22191" y="4974336"/>
            <a:ext cx="2231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40" b="1" i="0">
                <a:solidFill>
                  <a:srgbClr val="B45309"/>
                </a:solidFill>
                <a:latin typeface="Segoe UI"/>
              </a:rPr>
              <a:t>Gate: ATE with CI survives refutation</a:t>
            </a:r>
          </a:p>
        </p:txBody>
      </p:sp>
      <p:sp>
        <p:nvSpPr>
          <p:cNvPr id="28" name="Oval 27"/>
          <p:cNvSpPr/>
          <p:nvPr/>
        </p:nvSpPr>
        <p:spPr>
          <a:xfrm>
            <a:off x="6601968" y="2084832"/>
            <a:ext cx="128016" cy="128016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55664" y="2468880"/>
            <a:ext cx="2688336" cy="29626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93408" y="267004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10">
                <a:solidFill>
                  <a:srgbClr val="B45309"/>
                </a:solidFill>
                <a:latin typeface="Segoe UI"/>
              </a:rPr>
              <a:t>PHASE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408" y="2907791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0B1220"/>
                </a:solidFill>
                <a:latin typeface="Segoe UI"/>
              </a:rPr>
              <a:t>Surface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3408" y="3236976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Weeks 2–3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93408" y="3547872"/>
            <a:ext cx="22494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19" b="0" i="0">
                <a:solidFill>
                  <a:srgbClr val="334155"/>
                </a:solidFill>
                <a:latin typeface="Segoe UI"/>
              </a:rPr>
              <a:t>·  P1 CSV into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93408" y="3913632"/>
            <a:ext cx="22494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19" b="0" i="0">
                <a:solidFill>
                  <a:srgbClr val="334155"/>
                </a:solidFill>
                <a:latin typeface="Segoe UI"/>
              </a:rPr>
              <a:t>·  P2 real charts + ATE cards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93408" y="4425696"/>
            <a:ext cx="22494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19" b="0" i="0">
                <a:solidFill>
                  <a:srgbClr val="334155"/>
                </a:solidFill>
                <a:latin typeface="Segoe UI"/>
              </a:rPr>
              <a:t>·  P6 CI green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93408" y="4882896"/>
            <a:ext cx="2212848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93408" y="4974336"/>
            <a:ext cx="2231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40" b="1" i="0">
                <a:solidFill>
                  <a:srgbClr val="B45309"/>
                </a:solidFill>
                <a:latin typeface="Segoe UI"/>
              </a:rPr>
              <a:t>Gate: no placeholder panels left</a:t>
            </a:r>
          </a:p>
        </p:txBody>
      </p:sp>
      <p:sp>
        <p:nvSpPr>
          <p:cNvPr id="38" name="Oval 37"/>
          <p:cNvSpPr/>
          <p:nvPr/>
        </p:nvSpPr>
        <p:spPr>
          <a:xfrm>
            <a:off x="9473184" y="2084832"/>
            <a:ext cx="128016" cy="128016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326880" y="2468880"/>
            <a:ext cx="2688336" cy="29626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64624" y="267004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10">
                <a:solidFill>
                  <a:srgbClr val="BE123C"/>
                </a:solidFill>
                <a:latin typeface="Segoe UI"/>
              </a:rPr>
              <a:t>PHASE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64624" y="2907791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0B1220"/>
                </a:solidFill>
                <a:latin typeface="Segoe UI"/>
              </a:rPr>
              <a:t>Decide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64624" y="3236976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Weeks 3–4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64624" y="3547872"/>
            <a:ext cx="22494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19" b="0" i="0">
                <a:solidFill>
                  <a:srgbClr val="334155"/>
                </a:solidFill>
                <a:latin typeface="Segoe UI"/>
              </a:rPr>
              <a:t>·  C5 SciPy allocation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64624" y="3913632"/>
            <a:ext cx="22494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19" b="0" i="0">
                <a:solidFill>
                  <a:srgbClr val="334155"/>
                </a:solidFill>
                <a:latin typeface="Segoe UI"/>
              </a:rPr>
              <a:t>·  Recommendations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64624" y="4279392"/>
            <a:ext cx="22494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19" b="0" i="0">
                <a:solidFill>
                  <a:srgbClr val="334155"/>
                </a:solidFill>
                <a:latin typeface="Segoe UI"/>
              </a:rPr>
              <a:t>·  Report + demo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64624" y="4882896"/>
            <a:ext cx="2212848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64624" y="4974336"/>
            <a:ext cx="2231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40" b="1" i="0">
                <a:solidFill>
                  <a:srgbClr val="BE123C"/>
                </a:solidFill>
                <a:latin typeface="Segoe UI"/>
              </a:rPr>
              <a:t>Gate: simulated allocation, labelled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" y="5632704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30" b="1">
                <a:solidFill>
                  <a:srgbClr val="0B1220"/>
                </a:solidFill>
                <a:latin typeface="Segoe UI"/>
              </a:rPr>
              <a:t>If Section A slips:  </a:t>
            </a:r>
            <a:r>
              <a:rPr sz="1030" b="0">
                <a:solidFill>
                  <a:srgbClr val="64748B"/>
                </a:solidFill>
                <a:latin typeface="Segoe UI"/>
              </a:rPr>
              <a:t>run Phase 0 and Phase 2 in parallel and hold the causal slides empty. A dashboard with honest blanks is recoverable; a dashboard with invented elasticities is not.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" y="641908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EconoCausal  ·  Project status review  ·  main branch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81183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06908"/>
            <a:ext cx="50292" cy="14173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02336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 spc="140">
                <a:solidFill>
                  <a:srgbClr val="0D9488"/>
                </a:solidFill>
                <a:latin typeface="Segoe UI"/>
              </a:rPr>
              <a:t>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700" b="1" i="0">
                <a:solidFill>
                  <a:srgbClr val="0B1220"/>
                </a:solidFill>
                <a:latin typeface="Segoe UI"/>
              </a:rPr>
              <a:t>Four things that could sink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25296"/>
            <a:ext cx="96679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Each has an owner-facing mitigation, not just a warning.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0765231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828800"/>
            <a:ext cx="10765231" cy="384048"/>
          </a:xfrm>
          <a:prstGeom prst="roundRect">
            <a:avLst>
              <a:gd name="adj" fmla="val 12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20240"/>
            <a:ext cx="2880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10">
                <a:solidFill>
                  <a:srgbClr val="FFFFFF"/>
                </a:solidFill>
                <a:latin typeface="Segoe UI"/>
              </a:rPr>
              <a:t>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920240"/>
            <a:ext cx="33832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10">
                <a:solidFill>
                  <a:srgbClr val="FFFFFF"/>
                </a:solidFill>
                <a:latin typeface="Segoe UI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920240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10">
                <a:solidFill>
                  <a:srgbClr val="FFFFFF"/>
                </a:solidFill>
                <a:latin typeface="Segoe UI"/>
              </a:rPr>
              <a:t>MITIGATION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267712"/>
            <a:ext cx="10765231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505456"/>
            <a:ext cx="91440" cy="9144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2432304"/>
            <a:ext cx="28346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80" b="1" i="0">
                <a:solidFill>
                  <a:srgbClr val="0B1220"/>
                </a:solidFill>
                <a:latin typeface="Segoe UI"/>
              </a:rPr>
              <a:t>Section A definitions never land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2432304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The entire causal track stays at zero and the deck repeats itself next week.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62671" y="2432304"/>
            <a:ext cx="374903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 i="0">
                <a:solidFill>
                  <a:srgbClr val="334155"/>
                </a:solidFill>
                <a:latin typeface="Segoe UI"/>
              </a:rPr>
              <a:t>Set a hard date; escalate to the project lead; ship P1–P6 meanwhile.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273552"/>
            <a:ext cx="10765231" cy="93268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3511296"/>
            <a:ext cx="91440" cy="9144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1" y="3438144"/>
            <a:ext cx="28346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80" b="1" i="0">
                <a:solidFill>
                  <a:srgbClr val="0B1220"/>
                </a:solidFill>
                <a:latin typeface="Segoe UI"/>
              </a:rPr>
              <a:t>No valid price variation in the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6512" y="3438144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A DML price elasticity would be an artefact of confounding, not a causal number.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2671" y="3438144"/>
            <a:ext cx="374903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 i="0">
                <a:solidFill>
                  <a:srgbClr val="334155"/>
                </a:solidFill>
                <a:latin typeface="Segoe UI"/>
              </a:rPr>
              <a:t>Re-scope to Hillstrom e-mail uplift, or state a simulated-price design explicitly.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279392"/>
            <a:ext cx="10765231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4517136"/>
            <a:ext cx="91440" cy="9144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1" y="4443984"/>
            <a:ext cx="28346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80" b="1" i="0">
                <a:solidFill>
                  <a:srgbClr val="0B1220"/>
                </a:solidFill>
                <a:latin typeface="Segoe UI"/>
              </a:rPr>
              <a:t>Placeholders still visible at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512" y="4443984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Reviewer sees “Pending” cards and reads the project as unfinished scaffolding.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2671" y="4443984"/>
            <a:ext cx="374903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 i="0">
                <a:solidFill>
                  <a:srgbClr val="334155"/>
                </a:solidFill>
                <a:latin typeface="Segoe UI"/>
              </a:rPr>
              <a:t>Hide unfinished sections behind a “in progress” tab until real output exists.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285232"/>
            <a:ext cx="10765231" cy="93268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1248" y="5522976"/>
            <a:ext cx="91440" cy="9144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1" y="5449824"/>
            <a:ext cx="28346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80" b="1" i="0">
                <a:solidFill>
                  <a:srgbClr val="0B1220"/>
                </a:solidFill>
                <a:latin typeface="Segoe UI"/>
              </a:rPr>
              <a:t>Nothing is reproducible from the clone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96512" y="5449824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data/ is ignored, .pyc files are tracked, no CI: results cannot be re-run.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2671" y="5449824"/>
            <a:ext cx="374903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 i="0">
                <a:solidFill>
                  <a:srgbClr val="334155"/>
                </a:solidFill>
                <a:latin typeface="Segoe UI"/>
              </a:rPr>
              <a:t>Fetch script or fixtures, untrack build artefacts, add Actions workflow.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641908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EconoCausal  ·  Project status review  ·  main branch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81183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548640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spc="160">
                <a:solidFill>
                  <a:srgbClr val="5EEAD4"/>
                </a:solidFill>
                <a:latin typeface="Segoe UI"/>
              </a:rPr>
              <a:t>NEXT SEVEN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841248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What needs to happen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572768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5EEAD4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57276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Get the Section A definitions in 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581912"/>
            <a:ext cx="4160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B6C3D4"/>
                </a:solidFill>
                <a:latin typeface="Segoe UI"/>
              </a:rPr>
              <a:t>Treatment, outcome, covariates, estimand. This unlocks everything else.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4120" y="157276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 spc="60">
                <a:solidFill>
                  <a:srgbClr val="94A3B8"/>
                </a:solidFill>
                <a:latin typeface="Segoe UI"/>
              </a:rPr>
              <a:t>PROJECT LEAD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49424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5EEAD4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24942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Choose the causal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258568"/>
            <a:ext cx="4160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B6C3D4"/>
                </a:solidFill>
                <a:latin typeface="Segoe UI"/>
              </a:rPr>
              <a:t>Hillstrom e-mail uplift (identifiable now) or retail price elasticity (needs a design).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04120" y="2249424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 spc="60">
                <a:solidFill>
                  <a:srgbClr val="94A3B8"/>
                </a:solidFill>
                <a:latin typeface="Segoe UI"/>
              </a:rPr>
              <a:t>SECTION A +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926079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5EEAD4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926079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Ship the unblocked platform fixes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935224"/>
            <a:ext cx="4160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B6C3D4"/>
                </a:solidFill>
                <a:latin typeface="Segoe UI"/>
              </a:rPr>
              <a:t>P1, P3, P5, P6 — CSV into the dashboard, defects, hygiene, CI.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04120" y="2926079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 spc="60">
                <a:solidFill>
                  <a:srgbClr val="94A3B8"/>
                </a:solidFill>
                <a:latin typeface="Segoe UI"/>
              </a:rPr>
              <a:t>SECTION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3602736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5EEAD4"/>
                </a:solidFill>
                <a:latin typeface="Segoe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602736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Stand up the analysis table and DAG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3611880"/>
            <a:ext cx="4160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B6C3D4"/>
                </a:solidFill>
                <a:latin typeface="Segoe UI"/>
              </a:rPr>
              <a:t>Reproducible build script plus a committed graph.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04120" y="360273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 spc="60">
                <a:solidFill>
                  <a:srgbClr val="94A3B8"/>
                </a:solidFill>
                <a:latin typeface="Segoe UI"/>
              </a:rPr>
              <a:t>SECTION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4279392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5EEAD4"/>
                </a:solidFill>
                <a:latin typeface="Segoe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4279392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Then, and only then, train DML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4288536"/>
            <a:ext cx="4160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B6C3D4"/>
                </a:solidFill>
                <a:latin typeface="Segoe UI"/>
              </a:rPr>
              <a:t>One estimator, cluster-robust CIs, overlap diagnostics, refutation table.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04120" y="4279392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 spc="60">
                <a:solidFill>
                  <a:srgbClr val="94A3B8"/>
                </a:solidFill>
                <a:latin typeface="Segoe UI"/>
              </a:rPr>
              <a:t>SECTION 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5193792"/>
            <a:ext cx="1463040" cy="2743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5376672"/>
            <a:ext cx="9052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5EEAD4"/>
                </a:solidFill>
                <a:latin typeface="Segoe UI"/>
              </a:rPr>
              <a:t>Open decision for the reviewer:  </a:t>
            </a:r>
            <a:r>
              <a:rPr sz="1100" b="0">
                <a:solidFill>
                  <a:srgbClr val="C7D2E0"/>
                </a:solidFill>
                <a:latin typeface="Segoe UI"/>
              </a:rPr>
              <a:t>do we estimate the e-mail uplift that Hillstrom can actually support, or hold for a pricing design we do not yet have? The answer determines whether the next milestone produces a number or a caveat.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6272784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80" b="0" i="0">
                <a:solidFill>
                  <a:srgbClr val="64748B"/>
                </a:solidFill>
                <a:latin typeface="Segoe UI"/>
              </a:rPr>
              <a:t>Sources: snigdhasudheer/Infotact_project1 @ main · README, docs/day2, docs/day5, docs/requirements-checklist, main.py, frontend/src, test 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