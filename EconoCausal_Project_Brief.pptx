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slides, two of them forward-looking. Everything factual here was counted from the main branch - 41 commits, 18 merged PRs, 16 tests, five API routes, and 2 of 12 requirements genuinely complete. The second half of the brief is a prediction, and it is labelled as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to one breath. Left column is what a reviewer can click today; right column is what is missing. The important nuance is at the bottom: the first item on the right - the treatment, outcome and covariate definitions - belongs to Section A, which is why the causal track has not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forward-looking slide. Four weeks, not four months: the work left is bounded, and the only real risk sits in week 1. Point at the confidence pills - everything Section B controls is high, everything depending on Section A or on whether price variation exists is medium or low. The bottom strip is the commitment: a number with an interval, or an honest re-scope.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showing strategy. Each row says what a panel will display and which file or endpoint feeds it - that is the credibility test. The flow at the bottom is the demo order: upload, export, describe, estimate, allocate. Five minutes, no placeholder cards on screen. If step 4 is not ready, say so out loud rather than showing a blank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boundary, not a summary. Left: what this project can stand behind today and after week 4. Right: the three claims that would break under questioning - the discount effect, the optimiser's savings, and relabelling an e-mail uplift as price elasticity. Then ask for the one decision that determines whether week 4 produces a number or a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18120" y="1133856"/>
            <a:ext cx="10972" cy="1700784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85048" y="1133856"/>
            <a:ext cx="10972" cy="1700784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51976" y="1133856"/>
            <a:ext cx="10972" cy="1700784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18904" y="1133856"/>
            <a:ext cx="10972" cy="1700784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85832" y="1133856"/>
            <a:ext cx="10972" cy="1700784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52760" y="1133856"/>
            <a:ext cx="10972" cy="1700784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19688" y="1133856"/>
            <a:ext cx="10972" cy="1700784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133856"/>
            <a:ext cx="3749039" cy="10972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700784"/>
            <a:ext cx="3749039" cy="10972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2267712"/>
            <a:ext cx="3749039" cy="10972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2834639"/>
            <a:ext cx="3749039" cy="10972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13385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80">
                <a:solidFill>
                  <a:srgbClr val="5EEAD4"/>
                </a:solidFill>
                <a:latin typeface="Segoe UI"/>
              </a:rPr>
              <a:t>PROJECT BRIEF  ·  MAIN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481328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EconoCausal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286000"/>
            <a:ext cx="6400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C7D2E0"/>
                </a:solidFill>
                <a:latin typeface="Segoe UI"/>
              </a:rPr>
              <a:t>What is built today, what comes next,
and how the dashboard shows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182112"/>
            <a:ext cx="1371600" cy="274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38144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Five slides. </a:t>
            </a:r>
            <a:r>
              <a:rPr sz="1200" b="0">
                <a:solidFill>
                  <a:srgbClr val="B6C3D4"/>
                </a:solidFill>
                <a:latin typeface="Segoe UI"/>
              </a:rPr>
              <a:t>Two of them are forward-looking: the predicted work left on main, and the dashboard flow used to show the result. No causal number is claimed anywhere in this deck.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9884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4485132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snigdhasudheer/Infotact_project1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0974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REVIEWED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4796028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27 Oct 2026  ·  main @ b01a204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310128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20">
                <a:solidFill>
                  <a:srgbClr val="5EEAD4"/>
                </a:solidFill>
                <a:latin typeface="Segoe UI"/>
              </a:rPr>
              <a:t>IN THIS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602736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7D2E0"/>
                </a:solidFill>
                <a:latin typeface="Segoe UI"/>
              </a:rPr>
              <a:t>01  Today: built vs outstanding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3895344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7D2E0"/>
                </a:solidFill>
                <a:latin typeface="Segoe UI"/>
              </a:rPr>
              <a:t>02  Predicted further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187952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7D2E0"/>
                </a:solidFill>
                <a:latin typeface="Segoe UI"/>
              </a:rPr>
              <a:t>03  Dashboard: how it shows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480560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7D2E0"/>
                </a:solidFill>
                <a:latin typeface="Segoe UI"/>
              </a:rPr>
              <a:t>04  What the demo can claim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5358384"/>
            <a:ext cx="10609783" cy="12801"/>
          </a:xfrm>
          <a:prstGeom prst="rect">
            <a:avLst/>
          </a:prstGeom>
          <a:solidFill>
            <a:srgbClr val="2A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559552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EEAD4"/>
                </a:solidFill>
                <a:latin typeface="Segoe UI"/>
              </a:rPr>
              <a:t>41</a:t>
            </a:r>
            <a:r>
              <a:rPr sz="950" b="0">
                <a:solidFill>
                  <a:srgbClr val="94A3B8"/>
                </a:solidFill>
                <a:latin typeface="Segoe UI"/>
              </a:rPr>
              <a:t>  commits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5559552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EEAD4"/>
                </a:solidFill>
                <a:latin typeface="Segoe UI"/>
              </a:rPr>
              <a:t>18</a:t>
            </a:r>
            <a:r>
              <a:rPr sz="950" b="0">
                <a:solidFill>
                  <a:srgbClr val="94A3B8"/>
                </a:solidFill>
                <a:latin typeface="Segoe UI"/>
              </a:rPr>
              <a:t>  merged PRs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5559552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EEAD4"/>
                </a:solidFill>
                <a:latin typeface="Segoe UI"/>
              </a:rPr>
              <a:t>16</a:t>
            </a:r>
            <a:r>
              <a:rPr sz="950" b="0">
                <a:solidFill>
                  <a:srgbClr val="94A3B8"/>
                </a:solidFill>
                <a:latin typeface="Segoe UI"/>
              </a:rPr>
              <a:t>  unit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5559552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EEAD4"/>
                </a:solidFill>
                <a:latin typeface="Segoe UI"/>
              </a:rPr>
              <a:t>5</a:t>
            </a:r>
            <a:r>
              <a:rPr sz="950" b="0">
                <a:solidFill>
                  <a:srgbClr val="94A3B8"/>
                </a:solidFill>
                <a:latin typeface="Segoe UI"/>
              </a:rPr>
              <a:t>  API routes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59" y="5559552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EEAD4"/>
                </a:solidFill>
                <a:latin typeface="Segoe UI"/>
              </a:rPr>
              <a:t>2/12</a:t>
            </a:r>
            <a:r>
              <a:rPr sz="950" b="0">
                <a:solidFill>
                  <a:srgbClr val="94A3B8"/>
                </a:solidFill>
                <a:latin typeface="Segoe UI"/>
              </a:rPr>
              <a:t>  requirements done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6016752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94A3B8"/>
                </a:solidFill>
                <a:latin typeface="Segoe UI"/>
              </a:rPr>
              <a:t>Evidence read from the repository, not from its roadmap.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06908"/>
            <a:ext cx="50292" cy="1417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2336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40">
                <a:solidFill>
                  <a:srgbClr val="0D9488"/>
                </a:solidFill>
                <a:latin typeface="Segoe UI"/>
              </a:rPr>
              <a:t>01  · 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B1220"/>
                </a:solidFill>
                <a:latin typeface="Segoe UI"/>
              </a:rPr>
              <a:t>Built vs outstanding, on one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9667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Two of twelve requirements are complete, four are partial. Nothing downstream of the export estimates an effect.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0765231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2554147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975104"/>
            <a:ext cx="20969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D9488"/>
                </a:solidFill>
                <a:latin typeface="Segoe UI"/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322576"/>
            <a:ext cx="20969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B1220"/>
                </a:solidFill>
                <a:latin typeface="Segoe UI"/>
              </a:rPr>
              <a:t>commits on 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523744"/>
            <a:ext cx="20969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94A3B8"/>
                </a:solidFill>
                <a:latin typeface="Segoe UI"/>
              </a:rPr>
              <a:t>GitHub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0259" y="1828800"/>
            <a:ext cx="2554147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6291" y="1975104"/>
            <a:ext cx="20969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D9488"/>
                </a:solidFill>
                <a:latin typeface="Segoe UI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6291" y="2322576"/>
            <a:ext cx="20969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B1220"/>
                </a:solidFill>
                <a:latin typeface="Segoe UI"/>
              </a:rPr>
              <a:t>merged PRs · 0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6291" y="2523744"/>
            <a:ext cx="20969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94A3B8"/>
                </a:solidFill>
                <a:latin typeface="Segoe UI"/>
              </a:rPr>
              <a:t>all merged into 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828800"/>
            <a:ext cx="2554147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1975104"/>
            <a:ext cx="20969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D9488"/>
                </a:solidFill>
                <a:latin typeface="Segoe UI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19" y="2322576"/>
            <a:ext cx="20969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B1220"/>
                </a:solidFill>
                <a:latin typeface="Segoe UI"/>
              </a:rPr>
              <a:t>unit tests · no 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3319" y="2523744"/>
            <a:ext cx="20969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94A3B8"/>
                </a:solidFill>
                <a:latin typeface="Segoe UI"/>
              </a:rPr>
              <a:t>data utilities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4315" y="1828800"/>
            <a:ext cx="2554147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347" y="1975104"/>
            <a:ext cx="20969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D9488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347" y="2322576"/>
            <a:ext cx="20969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B1220"/>
                </a:solidFill>
                <a:latin typeface="Segoe UI"/>
              </a:rPr>
              <a:t>API routes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2523744"/>
            <a:ext cx="20969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94A3B8"/>
                </a:solidFill>
                <a:latin typeface="Segoe UI"/>
              </a:rPr>
              <a:t>upload · export ·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2907791"/>
            <a:ext cx="5263743" cy="3218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51679" y="3127248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ON 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1272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110">
                <a:solidFill>
                  <a:srgbClr val="0D9488"/>
                </a:solidFill>
                <a:latin typeface="Segoe UI"/>
              </a:rPr>
              <a:t>DELIVERED</a:t>
            </a:r>
          </a:p>
        </p:txBody>
      </p:sp>
      <p:sp>
        <p:nvSpPr>
          <p:cNvPr id="26" name="Oval 25"/>
          <p:cNvSpPr/>
          <p:nvPr/>
        </p:nvSpPr>
        <p:spPr>
          <a:xfrm>
            <a:off x="1005840" y="3602736"/>
            <a:ext cx="100584" cy="1005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3584" y="352958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0B1220"/>
                </a:solidFill>
                <a:latin typeface="Segoe UI"/>
              </a:rPr>
              <a:t>Dataset 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3584" y="3739896"/>
            <a:ext cx="4395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4748B"/>
                </a:solidFill>
                <a:latin typeface="Segoe UI"/>
              </a:rPr>
              <a:t>Retail vs Hillstrom compared and documented</a:t>
            </a:r>
          </a:p>
        </p:txBody>
      </p:sp>
      <p:sp>
        <p:nvSpPr>
          <p:cNvPr id="29" name="Oval 28"/>
          <p:cNvSpPr/>
          <p:nvPr/>
        </p:nvSpPr>
        <p:spPr>
          <a:xfrm>
            <a:off x="1005840" y="4114800"/>
            <a:ext cx="100584" cy="1005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43584" y="404164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0B1220"/>
                </a:solidFill>
                <a:latin typeface="Segoe UI"/>
              </a:rPr>
              <a:t>Cleaning &amp;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3584" y="4251960"/>
            <a:ext cx="4395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4748B"/>
                </a:solidFill>
                <a:latin typeface="Segoe UI"/>
              </a:rPr>
              <a:t>8 required columns, 5 tests, 400 on bad input</a:t>
            </a:r>
          </a:p>
        </p:txBody>
      </p:sp>
      <p:sp>
        <p:nvSpPr>
          <p:cNvPr id="32" name="Oval 31"/>
          <p:cNvSpPr/>
          <p:nvPr/>
        </p:nvSpPr>
        <p:spPr>
          <a:xfrm>
            <a:off x="1005840" y="4626864"/>
            <a:ext cx="100584" cy="1005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43584" y="455371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0B1220"/>
                </a:solidFill>
                <a:latin typeface="Segoe UI"/>
              </a:rPr>
              <a:t>Product-month 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43584" y="4764024"/>
            <a:ext cx="4395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4748B"/>
                </a:solidFill>
                <a:latin typeface="Segoe UI"/>
              </a:rPr>
              <a:t>6-column CSV, 2-dp rounding, 7 tests</a:t>
            </a:r>
          </a:p>
        </p:txBody>
      </p:sp>
      <p:sp>
        <p:nvSpPr>
          <p:cNvPr id="35" name="Oval 34"/>
          <p:cNvSpPr/>
          <p:nvPr/>
        </p:nvSpPr>
        <p:spPr>
          <a:xfrm>
            <a:off x="1005840" y="5138928"/>
            <a:ext cx="100584" cy="1005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3584" y="506577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0B1220"/>
                </a:solidFill>
                <a:latin typeface="Segoe UI"/>
              </a:rPr>
              <a:t>FastAPI + React shell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3584" y="5276088"/>
            <a:ext cx="4395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4748B"/>
                </a:solidFill>
                <a:latin typeface="Segoe UI"/>
              </a:rPr>
              <a:t>upload → validate → export → report, wired</a:t>
            </a:r>
          </a:p>
        </p:txBody>
      </p:sp>
      <p:sp>
        <p:nvSpPr>
          <p:cNvPr id="38" name="Oval 37"/>
          <p:cNvSpPr/>
          <p:nvPr/>
        </p:nvSpPr>
        <p:spPr>
          <a:xfrm>
            <a:off x="1005840" y="5650992"/>
            <a:ext cx="100584" cy="1005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3584" y="557784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0B1220"/>
                </a:solidFill>
                <a:latin typeface="Segoe UI"/>
              </a:rPr>
              <a:t>Methodology notes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3584" y="5788152"/>
            <a:ext cx="4395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4748B"/>
                </a:solidFill>
                <a:latin typeface="Segoe UI"/>
              </a:rPr>
              <a:t>8 identification assumptions, limits stated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4719" y="2907791"/>
            <a:ext cx="5263743" cy="3218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143439" y="3127248"/>
            <a:ext cx="1042415" cy="237744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BE123C"/>
                </a:solidFill>
                <a:latin typeface="Segoe UI"/>
              </a:rPr>
              <a:t>OUTSTANDING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7327" y="31272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110">
                <a:solidFill>
                  <a:srgbClr val="BE123C"/>
                </a:solidFill>
                <a:latin typeface="Segoe UI"/>
              </a:rPr>
              <a:t>STILL OPEN</a:t>
            </a:r>
          </a:p>
        </p:txBody>
      </p:sp>
      <p:sp>
        <p:nvSpPr>
          <p:cNvPr id="44" name="Oval 43"/>
          <p:cNvSpPr/>
          <p:nvPr/>
        </p:nvSpPr>
        <p:spPr>
          <a:xfrm>
            <a:off x="6507327" y="3602736"/>
            <a:ext cx="100584" cy="100584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45071" y="3529584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0B1220"/>
                </a:solidFill>
                <a:latin typeface="Segoe UI"/>
              </a:rPr>
              <a:t>Treatment, outcome, covariates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45071" y="3739896"/>
            <a:ext cx="4395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4748B"/>
                </a:solidFill>
                <a:latin typeface="Segoe UI"/>
              </a:rPr>
              <a:t>blocks everything below</a:t>
            </a:r>
          </a:p>
        </p:txBody>
      </p:sp>
      <p:sp>
        <p:nvSpPr>
          <p:cNvPr id="47" name="Oval 46"/>
          <p:cNvSpPr/>
          <p:nvPr/>
        </p:nvSpPr>
        <p:spPr>
          <a:xfrm>
            <a:off x="6507327" y="4041648"/>
            <a:ext cx="100584" cy="100584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45071" y="3968496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0B1220"/>
                </a:solidFill>
                <a:latin typeface="Segoe UI"/>
              </a:rPr>
              <a:t>Causal DAG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5071" y="4178808"/>
            <a:ext cx="4395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4748B"/>
                </a:solidFill>
                <a:latin typeface="Segoe UI"/>
              </a:rPr>
              <a:t>no graph, no defensible estimator</a:t>
            </a:r>
          </a:p>
        </p:txBody>
      </p:sp>
      <p:sp>
        <p:nvSpPr>
          <p:cNvPr id="50" name="Oval 49"/>
          <p:cNvSpPr/>
          <p:nvPr/>
        </p:nvSpPr>
        <p:spPr>
          <a:xfrm>
            <a:off x="6507327" y="4480560"/>
            <a:ext cx="100584" cy="100584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45071" y="44074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0B1220"/>
                </a:solidFill>
                <a:latin typeface="Segoe UI"/>
              </a:rPr>
              <a:t>DML estimate with intervals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45071" y="4617720"/>
            <a:ext cx="4395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4748B"/>
                </a:solidFill>
                <a:latin typeface="Segoe UI"/>
              </a:rPr>
              <a:t>EconML not installed</a:t>
            </a:r>
          </a:p>
        </p:txBody>
      </p:sp>
      <p:sp>
        <p:nvSpPr>
          <p:cNvPr id="53" name="Oval 52"/>
          <p:cNvSpPr/>
          <p:nvPr/>
        </p:nvSpPr>
        <p:spPr>
          <a:xfrm>
            <a:off x="6507327" y="4919472"/>
            <a:ext cx="100584" cy="100584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45071" y="4846320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0B1220"/>
                </a:solidFill>
                <a:latin typeface="Segoe UI"/>
              </a:rPr>
              <a:t>DoWhy refutation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45071" y="5056632"/>
            <a:ext cx="4395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4748B"/>
                </a:solidFill>
                <a:latin typeface="Segoe UI"/>
              </a:rPr>
              <a:t>no placebo or sensitivity checks</a:t>
            </a:r>
          </a:p>
        </p:txBody>
      </p:sp>
      <p:sp>
        <p:nvSpPr>
          <p:cNvPr id="56" name="Oval 55"/>
          <p:cNvSpPr/>
          <p:nvPr/>
        </p:nvSpPr>
        <p:spPr>
          <a:xfrm>
            <a:off x="6507327" y="5358384"/>
            <a:ext cx="100584" cy="100584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45071" y="5285232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0B1220"/>
                </a:solidFill>
                <a:latin typeface="Segoe UI"/>
              </a:rPr>
              <a:t>Budget optimisation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45071" y="5495544"/>
            <a:ext cx="4395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4748B"/>
                </a:solidFill>
                <a:latin typeface="Segoe UI"/>
              </a:rPr>
              <a:t>needs a validated estimate</a:t>
            </a:r>
          </a:p>
        </p:txBody>
      </p:sp>
      <p:sp>
        <p:nvSpPr>
          <p:cNvPr id="59" name="Oval 58"/>
          <p:cNvSpPr/>
          <p:nvPr/>
        </p:nvSpPr>
        <p:spPr>
          <a:xfrm>
            <a:off x="6507327" y="5797296"/>
            <a:ext cx="100584" cy="100584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45071" y="5724144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0B1220"/>
                </a:solidFill>
                <a:latin typeface="Segoe UI"/>
              </a:rPr>
              <a:t>Dashboard placeholders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45071" y="5934456"/>
            <a:ext cx="4395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4748B"/>
                </a:solidFill>
                <a:latin typeface="Segoe UI"/>
              </a:rPr>
              <a:t>4 of 6 panels still empty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" y="63276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1220"/>
                </a:solidFill>
                <a:latin typeface="Segoe UI"/>
              </a:rPr>
              <a:t>Read it this way:  </a:t>
            </a:r>
            <a:r>
              <a:rPr sz="1000" b="0">
                <a:solidFill>
                  <a:srgbClr val="64748B"/>
                </a:solidFill>
                <a:latin typeface="Segoe UI"/>
              </a:rPr>
              <a:t>the data and delivery layer is credible and tested; the four requirements that give the project its name are untouched.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EconoCausal  ·  project brief  ·  main branch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06908"/>
            <a:ext cx="50292" cy="1417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2336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40">
                <a:solidFill>
                  <a:srgbClr val="0D9488"/>
                </a:solidFill>
                <a:latin typeface="Segoe UI"/>
              </a:rPr>
              <a:t>02  ·  PREDICTED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B1220"/>
                </a:solidFill>
                <a:latin typeface="Segoe UI"/>
              </a:rPr>
              <a:t>What comes next, week by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9667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Four predicted weeks built from the effort each task actually needs. Confidence reflects how much is outside Section B's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0765231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2567863" cy="2871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2567863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48256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10">
                <a:solidFill>
                  <a:srgbClr val="0D9488"/>
                </a:solidFill>
                <a:latin typeface="Segoe U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67712"/>
            <a:ext cx="2147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220"/>
                </a:solidFill>
                <a:latin typeface="Segoe UI"/>
              </a:rPr>
              <a:t>Unblock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334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 spc="60">
                <a:solidFill>
                  <a:srgbClr val="0D9488"/>
                </a:solidFill>
                <a:latin typeface="Segoe UI"/>
              </a:rPr>
              <a:t>C1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825496"/>
            <a:ext cx="21472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 i="0">
                <a:solidFill>
                  <a:srgbClr val="334155"/>
                </a:solidFill>
                <a:latin typeface="Segoe UI"/>
              </a:rPr>
              <a:t>Section A definitions signed 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18211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 spc="60">
                <a:solidFill>
                  <a:srgbClr val="0D9488"/>
                </a:solidFill>
                <a:latin typeface="Segoe UI"/>
              </a:rPr>
              <a:t>P3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374136"/>
            <a:ext cx="21472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 i="0">
                <a:solidFill>
                  <a:srgbClr val="334155"/>
                </a:solidFill>
                <a:latin typeface="Segoe UI"/>
              </a:rPr>
              <a:t>Duplicate id + port mismatch fixed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73075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 spc="60">
                <a:solidFill>
                  <a:srgbClr val="0D9488"/>
                </a:solidFill>
                <a:latin typeface="Segoe UI"/>
              </a:rPr>
              <a:t>P5–P6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922776"/>
            <a:ext cx="21472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 i="0">
                <a:solidFill>
                  <a:srgbClr val="334155"/>
                </a:solidFill>
                <a:latin typeface="Segoe UI"/>
              </a:rPr>
              <a:t>Untrack .pyc, add CI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4334256"/>
            <a:ext cx="2128951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407408"/>
            <a:ext cx="2147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>
                <a:solidFill>
                  <a:srgbClr val="0D9488"/>
                </a:solidFill>
                <a:latin typeface="Segoe UI"/>
              </a:rPr>
              <a:t>Predicted: DAG committed, CSV loads in the dashboard, CI green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5687" y="1828800"/>
            <a:ext cx="2567863" cy="2871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45687" y="1828800"/>
            <a:ext cx="2567863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65143" y="2048256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10">
                <a:solidFill>
                  <a:srgbClr val="B45309"/>
                </a:solidFill>
                <a:latin typeface="Segoe UI"/>
              </a:rPr>
              <a:t>WEEK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5143" y="2267712"/>
            <a:ext cx="2147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220"/>
                </a:solidFill>
                <a:latin typeface="Segoe UI"/>
              </a:rPr>
              <a:t>Estimate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5143" y="26334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 spc="60">
                <a:solidFill>
                  <a:srgbClr val="B45309"/>
                </a:solidFill>
                <a:latin typeface="Segoe UI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5143" y="2825496"/>
            <a:ext cx="21472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 i="0">
                <a:solidFill>
                  <a:srgbClr val="334155"/>
                </a:solidFill>
                <a:latin typeface="Segoe UI"/>
              </a:rPr>
              <a:t>Analysis table build script + 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5143" y="318211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 spc="60">
                <a:solidFill>
                  <a:srgbClr val="B45309"/>
                </a:solidFill>
                <a:latin typeface="Segoe UI"/>
              </a:rPr>
              <a:t>C3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5143" y="3374136"/>
            <a:ext cx="21472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 i="0">
                <a:solidFill>
                  <a:srgbClr val="334155"/>
                </a:solidFill>
                <a:latin typeface="Segoe UI"/>
              </a:rPr>
              <a:t>LinearDML, cross-fit, cluster-robust 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65143" y="373075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 spc="60">
                <a:solidFill>
                  <a:srgbClr val="0D9488"/>
                </a:solidFill>
                <a:latin typeface="Segoe UI"/>
              </a:rPr>
              <a:t>P2A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5143" y="3922776"/>
            <a:ext cx="21472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 i="0">
                <a:solidFill>
                  <a:srgbClr val="334155"/>
                </a:solidFill>
                <a:latin typeface="Segoe UI"/>
              </a:rPr>
              <a:t>Causal Analysis card fed by real 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65143" y="4334256"/>
            <a:ext cx="2128951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65143" y="4407408"/>
            <a:ext cx="2147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>
                <a:solidFill>
                  <a:srgbClr val="B45309"/>
                </a:solidFill>
                <a:latin typeface="Segoe UI"/>
              </a:rPr>
              <a:t>Predicted: first ATE with a confidence interval on screen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8143" y="1828800"/>
            <a:ext cx="2567863" cy="2871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8143" y="1828800"/>
            <a:ext cx="2567863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7599" y="2048256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10">
                <a:solidFill>
                  <a:srgbClr val="B45309"/>
                </a:solidFill>
                <a:latin typeface="Segoe UI"/>
              </a:rPr>
              <a:t>WEEK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7599" y="2267712"/>
            <a:ext cx="2147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220"/>
                </a:solidFill>
                <a:latin typeface="Segoe UI"/>
              </a:rPr>
              <a:t>Validate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7599" y="26334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 spc="60">
                <a:solidFill>
                  <a:srgbClr val="B45309"/>
                </a:solidFill>
                <a:latin typeface="Segoe UI"/>
              </a:rPr>
              <a:t>C4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7599" y="2825496"/>
            <a:ext cx="21472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 i="0">
                <a:solidFill>
                  <a:srgbClr val="334155"/>
                </a:solidFill>
                <a:latin typeface="Segoe UI"/>
              </a:rPr>
              <a:t>Placebo, random cause, subset refutations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7599" y="318211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 spc="60">
                <a:solidFill>
                  <a:srgbClr val="0D9488"/>
                </a:solidFill>
                <a:latin typeface="Segoe UI"/>
              </a:rPr>
              <a:t>P2B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7599" y="3374136"/>
            <a:ext cx="21472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 i="0">
                <a:solidFill>
                  <a:srgbClr val="334155"/>
                </a:solidFill>
                <a:latin typeface="Segoe UI"/>
              </a:rPr>
              <a:t>Overlap + heterogeneity charts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7599" y="373075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 spc="60">
                <a:solidFill>
                  <a:srgbClr val="0D9488"/>
                </a:solidFill>
                <a:latin typeface="Segoe UI"/>
              </a:rP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7599" y="3922776"/>
            <a:ext cx="21472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 i="0">
                <a:solidFill>
                  <a:srgbClr val="334155"/>
                </a:solidFill>
                <a:latin typeface="Segoe UI"/>
              </a:rPr>
              <a:t>Product-month CSV into EDA section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97599" y="4334256"/>
            <a:ext cx="2128951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7599" y="4407408"/>
            <a:ext cx="2147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>
                <a:solidFill>
                  <a:srgbClr val="B45309"/>
                </a:solidFill>
                <a:latin typeface="Segoe UI"/>
              </a:rPr>
              <a:t>Predicted: estimate survives refutation, or gets re-scoped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10599" y="1828800"/>
            <a:ext cx="2567863" cy="2871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10599" y="1828800"/>
            <a:ext cx="2567863" cy="4572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30055" y="2048256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10">
                <a:solidFill>
                  <a:srgbClr val="BE123C"/>
                </a:solidFill>
                <a:latin typeface="Segoe UI"/>
              </a:rPr>
              <a:t>WEEK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30055" y="2267712"/>
            <a:ext cx="2147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220"/>
                </a:solidFill>
                <a:latin typeface="Segoe UI"/>
              </a:rPr>
              <a:t>Decide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30055" y="26334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 spc="60">
                <a:solidFill>
                  <a:srgbClr val="BE123C"/>
                </a:solidFill>
                <a:latin typeface="Segoe UI"/>
              </a:rPr>
              <a:t>C5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30055" y="2825496"/>
            <a:ext cx="21472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 i="0">
                <a:solidFill>
                  <a:srgbClr val="334155"/>
                </a:solidFill>
                <a:latin typeface="Segoe UI"/>
              </a:rPr>
              <a:t>SciPy allocation, labelled simulated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30055" y="318211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 spc="60">
                <a:solidFill>
                  <a:srgbClr val="0D9488"/>
                </a:solidFill>
                <a:latin typeface="Segoe UI"/>
              </a:rPr>
              <a:t>P4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30055" y="3374136"/>
            <a:ext cx="21472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 i="0">
                <a:solidFill>
                  <a:srgbClr val="334155"/>
                </a:solidFill>
                <a:latin typeface="Segoe UI"/>
              </a:rPr>
              <a:t>Fetch script or fixtures for reproducibility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30055" y="373075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 spc="60">
                <a:solidFill>
                  <a:srgbClr val="0D9488"/>
                </a:solidFill>
                <a:latin typeface="Segoe UI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30055" y="3922776"/>
            <a:ext cx="21472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 i="0">
                <a:solidFill>
                  <a:srgbClr val="334155"/>
                </a:solidFill>
                <a:latin typeface="Segoe UI"/>
              </a:rPr>
              <a:t>Final report + demo run-through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30055" y="4334256"/>
            <a:ext cx="2128951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30055" y="4407408"/>
            <a:ext cx="2147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>
                <a:solidFill>
                  <a:srgbClr val="BE123C"/>
                </a:solidFill>
                <a:latin typeface="Segoe UI"/>
              </a:rPr>
              <a:t>Predicted: one quantified recommendation plus its caveat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4882896"/>
            <a:ext cx="10765231" cy="8229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" y="5065776"/>
            <a:ext cx="10180015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30" b="1">
                <a:solidFill>
                  <a:srgbClr val="0B1220"/>
                </a:solidFill>
                <a:latin typeface="Segoe UI"/>
              </a:rPr>
              <a:t>The prediction that matters:  </a:t>
            </a:r>
            <a:r>
              <a:rPr sz="1030" b="0">
                <a:solidFill>
                  <a:srgbClr val="334155"/>
                </a:solidFill>
                <a:latin typeface="Segoe UI"/>
              </a:rPr>
              <a:t>by week 4 the dashboard's empty ATE card holds a number with a confidence interval, or the project honestly ships a Hillstrom e-mail-uplift result instead. Both are defensible; a filled card with no identification argument is not.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" y="5870448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94A3B8"/>
                </a:solidFill>
                <a:latin typeface="Segoe UI"/>
              </a:rPr>
              <a:t>Confidence:  </a:t>
            </a:r>
            <a:r>
              <a:rPr sz="860" b="1">
                <a:solidFill>
                  <a:srgbClr val="0D9488"/>
                </a:solidFill>
                <a:latin typeface="Segoe UI"/>
              </a:rPr>
              <a:t>high  </a:t>
            </a:r>
            <a:r>
              <a:rPr sz="860" b="0">
                <a:solidFill>
                  <a:srgbClr val="94A3B8"/>
                </a:solidFill>
                <a:latin typeface="Segoe UI"/>
              </a:rPr>
              <a:t>·  </a:t>
            </a:r>
            <a:r>
              <a:rPr sz="860" b="1">
                <a:solidFill>
                  <a:srgbClr val="B45309"/>
                </a:solidFill>
                <a:latin typeface="Segoe UI"/>
              </a:rPr>
              <a:t>medium  </a:t>
            </a:r>
            <a:r>
              <a:rPr sz="860" b="0">
                <a:solidFill>
                  <a:srgbClr val="94A3B8"/>
                </a:solidFill>
                <a:latin typeface="Segoe UI"/>
              </a:rPr>
              <a:t>·  </a:t>
            </a:r>
            <a:r>
              <a:rPr sz="860" b="1">
                <a:solidFill>
                  <a:srgbClr val="BE123C"/>
                </a:solidFill>
                <a:latin typeface="Segoe UI"/>
              </a:rPr>
              <a:t>low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0992" y="5870448"/>
            <a:ext cx="58274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1">
                <a:solidFill>
                  <a:srgbClr val="94A3B8"/>
                </a:solidFill>
                <a:latin typeface="Segoe UI"/>
              </a:rPr>
              <a:t>Effort: C1 2–3 days · C2 1 wk · C3 1 wk · C4 3–4 days · C5 4–5 days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EconoCausal  ·  project brief  ·  main branch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06908"/>
            <a:ext cx="50292" cy="1417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2336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40">
                <a:solidFill>
                  <a:srgbClr val="0D9488"/>
                </a:solidFill>
                <a:latin typeface="Segoe UI"/>
              </a:rPr>
              <a:t>03  · 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B1220"/>
                </a:solidFill>
                <a:latin typeface="Segoe UI"/>
              </a:rPr>
              <a:t>How the dashboard is used to show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9667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Six panels, one story: upload → describe → estimate → recommend → allocate. Each panel names its own data source.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0765231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10765231" cy="365760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11095"/>
            <a:ext cx="16916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100">
                <a:solidFill>
                  <a:srgbClr val="FFFFFF"/>
                </a:solidFill>
                <a:latin typeface="Segoe UI"/>
              </a:rPr>
              <a:t>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911095"/>
            <a:ext cx="30632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100">
                <a:solidFill>
                  <a:srgbClr val="FFFFFF"/>
                </a:solidFill>
                <a:latin typeface="Segoe UI"/>
              </a:rPr>
              <a:t>WHAT IT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11095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100">
                <a:solidFill>
                  <a:srgbClr val="FFFFFF"/>
                </a:solidFill>
                <a:latin typeface="Segoe UI"/>
              </a:rPr>
              <a:t>WHERE THE DATA COMES 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911095"/>
            <a:ext cx="3218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100">
                <a:solidFill>
                  <a:srgbClr val="FFFFFF"/>
                </a:solidFill>
                <a:latin typeface="Segoe UI"/>
              </a:rPr>
              <a:t>STATE NOW  →  AFTER THE PREDICTED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31136"/>
            <a:ext cx="10765231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231136"/>
            <a:ext cx="45720" cy="47548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340864"/>
            <a:ext cx="160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0B1220"/>
                </a:solidFill>
                <a:latin typeface="Segoe UI"/>
              </a:rPr>
              <a:t>Dataset &amp; 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2322576"/>
            <a:ext cx="30632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9" b="0" i="0">
                <a:solidFill>
                  <a:srgbClr val="334155"/>
                </a:solidFill>
                <a:latin typeface="Segoe UI"/>
              </a:rPr>
              <a:t>Validation summary, 5-row preview, quality tiles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2340864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40" b="0" i="0">
                <a:solidFill>
                  <a:srgbClr val="64748B"/>
                </a:solidFill>
                <a:latin typeface="Consolas"/>
              </a:rPr>
              <a:t>/api/upload → pandas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322576"/>
            <a:ext cx="3218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9" b="0" i="0">
                <a:solidFill>
                  <a:srgbClr val="0D9488"/>
                </a:solidFill>
                <a:latin typeface="Segoe UI"/>
              </a:rPr>
              <a:t>live, one file at a time  →  adds missing-value and month tiles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752344"/>
            <a:ext cx="10765231" cy="47548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752344"/>
            <a:ext cx="45720" cy="4754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862072"/>
            <a:ext cx="160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0B1220"/>
                </a:solidFill>
                <a:latin typeface="Segoe UI"/>
              </a:rPr>
              <a:t>Product-month charts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7752" y="2843784"/>
            <a:ext cx="30632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9" b="0" i="0">
                <a:solidFill>
                  <a:srgbClr val="334155"/>
                </a:solidFill>
                <a:latin typeface="Segoe UI"/>
              </a:rPr>
              <a:t>Price vs quantity by month, per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2862072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40" b="0" i="0">
                <a:solidFill>
                  <a:srgbClr val="64748B"/>
                </a:solidFill>
                <a:latin typeface="Consolas"/>
              </a:rPr>
              <a:t>product_month_summary.csv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2843784"/>
            <a:ext cx="3218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9" b="0" i="0">
                <a:solidFill>
                  <a:srgbClr val="B45309"/>
                </a:solidFill>
                <a:latin typeface="Segoe UI"/>
              </a:rPr>
              <a:t>component exists, no data  →  real Plotly trend per product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273552"/>
            <a:ext cx="10765231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273552"/>
            <a:ext cx="45720" cy="475488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383280"/>
            <a:ext cx="160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0B1220"/>
                </a:solidFill>
                <a:latin typeface="Segoe UI"/>
              </a:rPr>
              <a:t>Causal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87752" y="3364992"/>
            <a:ext cx="30632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9" b="0" i="0">
                <a:solidFill>
                  <a:srgbClr val="334155"/>
                </a:solidFill>
                <a:latin typeface="Segoe UI"/>
              </a:rPr>
              <a:t>ATE, 95% CI, sample size, overlap diagnostics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3872" y="3383280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40" b="0" i="0">
                <a:solidFill>
                  <a:srgbClr val="64748B"/>
                </a:solidFill>
                <a:latin typeface="Consolas"/>
              </a:rPr>
              <a:t>DML output (JSON)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4152" y="3364992"/>
            <a:ext cx="3218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9" b="0" i="0">
                <a:solidFill>
                  <a:srgbClr val="BE123C"/>
                </a:solidFill>
                <a:latin typeface="Segoe UI"/>
              </a:rPr>
              <a:t>four “Pending” cards  →  estimate + interval + diagnostics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3794760"/>
            <a:ext cx="10765231" cy="47548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3794760"/>
            <a:ext cx="45720" cy="475488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904488"/>
            <a:ext cx="160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0B1220"/>
                </a:solidFill>
                <a:latin typeface="Segoe UI"/>
              </a:rPr>
              <a:t>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87752" y="3886200"/>
            <a:ext cx="30632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9" b="0" i="0">
                <a:solidFill>
                  <a:srgbClr val="334155"/>
                </a:solidFill>
                <a:latin typeface="Segoe UI"/>
              </a:rPr>
              <a:t>Products and segments ranked by estimated effect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3872" y="3904488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40" b="0" i="0">
                <a:solidFill>
                  <a:srgbClr val="64748B"/>
                </a:solidFill>
                <a:latin typeface="Consolas"/>
              </a:rPr>
              <a:t>ATE + heterogeneity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2" y="3886200"/>
            <a:ext cx="3218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9" b="0" i="0">
                <a:solidFill>
                  <a:srgbClr val="BE123C"/>
                </a:solidFill>
                <a:latin typeface="Segoe UI"/>
              </a:rPr>
              <a:t>placeholder  →  ranked table with effect sizes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315968"/>
            <a:ext cx="10765231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4315968"/>
            <a:ext cx="45720" cy="475488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425696"/>
            <a:ext cx="160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0B1220"/>
                </a:solidFill>
                <a:latin typeface="Segoe UI"/>
              </a:rPr>
              <a:t>Budget Optimization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87752" y="4407408"/>
            <a:ext cx="30632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9" b="0" i="0">
                <a:solidFill>
                  <a:srgbClr val="334155"/>
                </a:solidFill>
                <a:latin typeface="Segoe UI"/>
              </a:rPr>
              <a:t>Allocation vs baseline, explicitly simulated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3872" y="4425696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40" b="0" i="0">
                <a:solidFill>
                  <a:srgbClr val="64748B"/>
                </a:solidFill>
                <a:latin typeface="Consolas"/>
              </a:rPr>
              <a:t>SciPy scenario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2" y="4407408"/>
            <a:ext cx="3218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9" b="0" i="0">
                <a:solidFill>
                  <a:srgbClr val="BE123C"/>
                </a:solidFill>
                <a:latin typeface="Segoe UI"/>
              </a:rPr>
              <a:t>placeholder  →  labelled simulation, never a promise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500176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110">
                <a:solidFill>
                  <a:srgbClr val="0B1220"/>
                </a:solidFill>
                <a:latin typeface="Segoe UI"/>
              </a:rPr>
              <a:t>THE FIVE-MINUTE DEMO FLOW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" y="5239512"/>
            <a:ext cx="2050633" cy="676656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53035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Segoe U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" y="5294376"/>
            <a:ext cx="150199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1" i="0">
                <a:solidFill>
                  <a:srgbClr val="0B1220"/>
                </a:solidFill>
                <a:latin typeface="Segoe UI"/>
              </a:rPr>
              <a:t>Upload sample_upload.xlsx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" y="5641848"/>
            <a:ext cx="175802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64748B"/>
                </a:solidFill>
                <a:latin typeface="Segoe UI"/>
              </a:rPr>
              <a:t>validation + summary appears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91881" y="5239512"/>
            <a:ext cx="2050633" cy="676656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56473" y="53035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Segoe U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2505" y="5294376"/>
            <a:ext cx="150199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1" i="0">
                <a:solidFill>
                  <a:srgbClr val="0B1220"/>
                </a:solidFill>
                <a:latin typeface="Segoe UI"/>
              </a:rPr>
              <a:t>Export the product-month CSV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56473" y="5641848"/>
            <a:ext cx="175802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64748B"/>
                </a:solidFill>
                <a:latin typeface="Segoe UI"/>
              </a:rPr>
              <a:t>the hand-off table downloads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70530" y="5239512"/>
            <a:ext cx="2050633" cy="676656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35122" y="53035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Segoe U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91154" y="5294376"/>
            <a:ext cx="150199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1" i="0">
                <a:solidFill>
                  <a:srgbClr val="0B1220"/>
                </a:solidFill>
                <a:latin typeface="Segoe UI"/>
              </a:rPr>
              <a:t>Open Dataset &amp; EDA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5122" y="5641848"/>
            <a:ext cx="175802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64748B"/>
                </a:solidFill>
                <a:latin typeface="Segoe UI"/>
              </a:rPr>
              <a:t>one real trend chart, real numbers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49180" y="5239512"/>
            <a:ext cx="2050633" cy="676656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13772" y="53035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Segoe U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69804" y="5294376"/>
            <a:ext cx="150199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1" i="0">
                <a:solidFill>
                  <a:srgbClr val="0B1220"/>
                </a:solidFill>
                <a:latin typeface="Segoe UI"/>
              </a:rPr>
              <a:t>Open Causal Analysis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13772" y="5641848"/>
            <a:ext cx="175802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64748B"/>
                </a:solidFill>
                <a:latin typeface="Segoe UI"/>
              </a:rPr>
              <a:t>ATE, interval, overlap — or say why not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27829" y="5239512"/>
            <a:ext cx="2050633" cy="676656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92421" y="53035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Segoe UI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48453" y="5294376"/>
            <a:ext cx="150199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1" i="0">
                <a:solidFill>
                  <a:srgbClr val="0B1220"/>
                </a:solidFill>
                <a:latin typeface="Segoe UI"/>
              </a:rPr>
              <a:t>Open Budget Optimization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92421" y="5641848"/>
            <a:ext cx="175802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64748B"/>
                </a:solidFill>
                <a:latin typeface="Segoe UI"/>
              </a:rPr>
              <a:t>scenario, labelled simulated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" y="5989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1220"/>
                </a:solidFill>
                <a:latin typeface="Segoe UI"/>
              </a:rPr>
              <a:t>Never show a placeholder:  </a:t>
            </a:r>
            <a:r>
              <a:rPr sz="1000" b="0">
                <a:solidFill>
                  <a:srgbClr val="64748B"/>
                </a:solidFill>
                <a:latin typeface="Segoe UI"/>
              </a:rPr>
              <a:t>hide an unfinished panel or label it “in progress”. A reviewer reads “Pending” as unfinished scaffolding, which costs more than an empty tab.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EconoCausal  ·  project brief  ·  main branch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47548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5EEAD4"/>
                </a:solidFill>
                <a:latin typeface="Segoe UI"/>
              </a:rPr>
              <a:t>04  ·  WHAT THE DEMO CAN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9144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 defensible pitch, and its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26464"/>
            <a:ext cx="5486400" cy="27432"/>
          </a:xfrm>
          <a:prstGeom prst="rect">
            <a:avLst/>
          </a:prstGeom>
          <a:solidFill>
            <a:srgbClr val="2A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1700784"/>
            <a:ext cx="5199735" cy="2011680"/>
          </a:xfrm>
          <a:prstGeom prst="roundRect">
            <a:avLst>
              <a:gd name="adj" fmla="val 5000"/>
            </a:avLst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90195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110">
                <a:solidFill>
                  <a:srgbClr val="5EEAD4"/>
                </a:solidFill>
                <a:latin typeface="Segoe UI"/>
              </a:rPr>
              <a:t>CAN CLAIM</a:t>
            </a:r>
          </a:p>
        </p:txBody>
      </p:sp>
      <p:sp>
        <p:nvSpPr>
          <p:cNvPr id="8" name="Oval 7"/>
          <p:cNvSpPr/>
          <p:nvPr/>
        </p:nvSpPr>
        <p:spPr>
          <a:xfrm>
            <a:off x="1033271" y="2258568"/>
            <a:ext cx="82296" cy="82296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194560"/>
            <a:ext cx="44224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80" b="0" i="0">
                <a:solidFill>
                  <a:srgbClr val="C7D2E0"/>
                </a:solidFill>
                <a:latin typeface="Segoe UI"/>
              </a:rPr>
              <a:t>A validated, tested pipeline on real retail data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660903"/>
            <a:ext cx="82296" cy="82296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2596896"/>
            <a:ext cx="44224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80" b="0" i="0">
                <a:solidFill>
                  <a:srgbClr val="C7D2E0"/>
                </a:solidFill>
                <a:latin typeface="Segoe UI"/>
              </a:rPr>
              <a:t>Descriptive price–demand evidence, clearly labelled as association</a:t>
            </a:r>
          </a:p>
        </p:txBody>
      </p:sp>
      <p:sp>
        <p:nvSpPr>
          <p:cNvPr id="12" name="Oval 11"/>
          <p:cNvSpPr/>
          <p:nvPr/>
        </p:nvSpPr>
        <p:spPr>
          <a:xfrm>
            <a:off x="1033271" y="3063239"/>
            <a:ext cx="82296" cy="82296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2999232"/>
            <a:ext cx="44224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80" b="0" i="0">
                <a:solidFill>
                  <a:srgbClr val="C7D2E0"/>
                </a:solidFill>
                <a:latin typeface="Segoe UI"/>
              </a:rPr>
              <a:t>A DML estimate with a confidence interval and refutation checks, once C3–C4 land</a:t>
            </a:r>
          </a:p>
        </p:txBody>
      </p:sp>
      <p:sp>
        <p:nvSpPr>
          <p:cNvPr id="14" name="Oval 13"/>
          <p:cNvSpPr/>
          <p:nvPr/>
        </p:nvSpPr>
        <p:spPr>
          <a:xfrm>
            <a:off x="1033271" y="3465575"/>
            <a:ext cx="82296" cy="82296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3401568"/>
            <a:ext cx="44224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80" b="0" i="0">
                <a:solidFill>
                  <a:srgbClr val="C7D2E0"/>
                </a:solidFill>
                <a:latin typeface="Segoe UI"/>
              </a:rPr>
              <a:t>A simulated allocation showing how budget would move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700784"/>
            <a:ext cx="5199735" cy="2011680"/>
          </a:xfrm>
          <a:prstGeom prst="roundRect">
            <a:avLst>
              <a:gd name="adj" fmla="val 5000"/>
            </a:avLst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7" y="190195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110">
                <a:solidFill>
                  <a:srgbClr val="FBBF24"/>
                </a:solidFill>
                <a:latin typeface="Segoe UI"/>
              </a:rPr>
              <a:t>CANNOT CLAIM</a:t>
            </a:r>
          </a:p>
        </p:txBody>
      </p:sp>
      <p:sp>
        <p:nvSpPr>
          <p:cNvPr id="18" name="Oval 17"/>
          <p:cNvSpPr/>
          <p:nvPr/>
        </p:nvSpPr>
        <p:spPr>
          <a:xfrm>
            <a:off x="6507327" y="2258568"/>
            <a:ext cx="82296" cy="822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7639" y="2194560"/>
            <a:ext cx="44224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80" b="0" i="0">
                <a:solidFill>
                  <a:srgbClr val="C7D2E0"/>
                </a:solidFill>
                <a:latin typeface="Segoe UI"/>
              </a:rPr>
              <a:t>A causal discount effect from historical retail prices</a:t>
            </a:r>
          </a:p>
        </p:txBody>
      </p:sp>
      <p:sp>
        <p:nvSpPr>
          <p:cNvPr id="20" name="Oval 19"/>
          <p:cNvSpPr/>
          <p:nvPr/>
        </p:nvSpPr>
        <p:spPr>
          <a:xfrm>
            <a:off x="6507327" y="2660903"/>
            <a:ext cx="82296" cy="822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7639" y="2596896"/>
            <a:ext cx="44224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80" b="0" i="0">
                <a:solidFill>
                  <a:srgbClr val="C7D2E0"/>
                </a:solidFill>
                <a:latin typeface="Segoe UI"/>
              </a:rPr>
              <a:t>ROI or savings produced by the optimiser</a:t>
            </a:r>
          </a:p>
        </p:txBody>
      </p:sp>
      <p:sp>
        <p:nvSpPr>
          <p:cNvPr id="22" name="Oval 21"/>
          <p:cNvSpPr/>
          <p:nvPr/>
        </p:nvSpPr>
        <p:spPr>
          <a:xfrm>
            <a:off x="6507327" y="3063239"/>
            <a:ext cx="82296" cy="822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7639" y="2999232"/>
            <a:ext cx="44224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80" b="0" i="0">
                <a:solidFill>
                  <a:srgbClr val="C7D2E0"/>
                </a:solidFill>
                <a:latin typeface="Segoe UI"/>
              </a:rPr>
              <a:t>That an e-mail uplift equals a price elasticity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041648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20">
                <a:solidFill>
                  <a:srgbClr val="5EEAD4"/>
                </a:solidFill>
                <a:latin typeface="Segoe UI"/>
              </a:rPr>
              <a:t>NEXT SEVEN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315968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EAD4"/>
                </a:solidFill>
                <a:latin typeface="Segoe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315968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7D2E0"/>
                </a:solidFill>
                <a:latin typeface="Segoe UI"/>
              </a:rPr>
              <a:t>Get Section A definitions in writing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2" y="431596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 spc="60">
                <a:solidFill>
                  <a:srgbClr val="94A3B8"/>
                </a:solidFill>
                <a:latin typeface="Segoe UI"/>
              </a:rPr>
              <a:t>PROJECT LEAD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4645152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EAD4"/>
                </a:solidFill>
                <a:latin typeface="Segoe U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45152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7D2E0"/>
                </a:solidFill>
                <a:latin typeface="Segoe UI"/>
              </a:rPr>
              <a:t>Ship the unblocked fixes: P1, P3, P5, P6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0952" y="464515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 spc="60">
                <a:solidFill>
                  <a:srgbClr val="94A3B8"/>
                </a:solidFill>
                <a:latin typeface="Segoe UI"/>
              </a:rPr>
              <a:t>SECTION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4974336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EAD4"/>
                </a:solidFill>
                <a:latin typeface="Segoe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97433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7D2E0"/>
                </a:solidFill>
                <a:latin typeface="Segoe UI"/>
              </a:rPr>
              <a:t>Build the analysis table and commit the DAG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0952" y="4974336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 spc="60">
                <a:solidFill>
                  <a:srgbClr val="94A3B8"/>
                </a:solidFill>
                <a:latin typeface="Segoe UI"/>
              </a:rPr>
              <a:t>SECTION 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3895344"/>
            <a:ext cx="4370832" cy="1700784"/>
          </a:xfrm>
          <a:prstGeom prst="roundRect">
            <a:avLst>
              <a:gd name="adj" fmla="val 5000"/>
            </a:avLst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4059935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110">
                <a:solidFill>
                  <a:srgbClr val="FBBF24"/>
                </a:solidFill>
                <a:latin typeface="Segoe UI"/>
              </a:rPr>
              <a:t>ONE DECISION, TODAY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334256"/>
            <a:ext cx="387705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Do we estimate the e-mail uplift Hillstrom can support, or hold for a pricing design we do not have yet?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157216"/>
            <a:ext cx="3877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It decides whether week 4 ships a number or a caveat.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" y="614476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4748B"/>
                </a:solidFill>
                <a:latin typeface="Segoe UI"/>
              </a:rPr>
              <a:t>Sources: snigdhasudheer/Infotact_project1 @ main · README, docs/day2, docs/day5, requirements-checklist, main.py, frontend/src, test suite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64190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C8CA6"/>
                </a:solidFill>
                <a:latin typeface="Segoe UI"/>
              </a:rPr>
              <a:t>EconoCausal  ·  project brief  ·  main branch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81183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7C8CA6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